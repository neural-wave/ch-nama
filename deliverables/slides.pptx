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975ed9-5e3e-52c5-27c8-9bb5b7836879}">
          <p14:sldIdLst>
            <p14:sldId id="256"/>
          </p14:sldIdLst>
        </p14:section>
        <p14:section name="Challenge" id="{16aacdcb-a999-3cdd-2b1f-0d1a7b528ce4}">
          <p14:sldIdLst>
            <p14:sldId id="257"/>
          </p14:sldIdLst>
        </p14:section>
        <p14:section name="Approach" id="{7e06359a-d06e-a680-7cb5-e7110ed2652e}">
          <p14:sldIdLst>
            <p14:sldId id="258"/>
            <p14:sldId id="259"/>
          </p14:sldIdLst>
        </p14:section>
        <p14:section name="Findings" id="{548fc3d4-027b-4bb3-3825-fb01044b7c1d}">
          <p14:sldIdLst>
            <p14:sldId id="260"/>
            <p14:sldId id="261"/>
          </p14:sldIdLst>
        </p14:section>
        <p14:section name="Results" id="{584d008b-32fb-05f7-377c-039d6528876b}">
          <p14:sldIdLst>
            <p14:sldId id="262"/>
          </p14:sldIdLst>
        </p14:section>
        <p14:section name="Surprise t7" id="{3dbfbe0d-3434-3a90-c194-73c3e978d909}">
          <p14:sldIdLst>
            <p14:sldId id="263"/>
            <p14:sldId id="264"/>
            <p14:sldId id="265"/>
            <p14:sldId id="266"/>
            <p14:sldId id="267"/>
          </p14:sldIdLst>
        </p14:section>
        <p14:section name="Closing" id="{1b8b4c49-c659-2fce-d63b-8a484ce8893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COBOL era</c:v>
                </c:pt>
              </c:strCache>
            </c:strRef>
          </c:tx>
          <c:spPr>
            <a:solidFill>
              <a:srgbClr val="E1E6E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Sheet1!$B$2:$B$33</c:f>
              <c:numCache>
                <c:formatCode>General</c:formatCode>
                <c:ptCount val="32"/>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lineChart>
        <c:varyColors val="0"/>
        <c:ser>
          <c:idx val="1"/>
          <c:order val="1"/>
          <c:tx>
            <c:strRef>
              <c:f>Sheet1!$C$1</c:f>
              <c:strCache>
                <c:ptCount val="1"/>
                <c:pt idx="0">
                  <c:v>t4 statements, NG rules only</c:v>
                </c:pt>
              </c:strCache>
            </c:strRef>
          </c:tx>
          <c:spPr>
            <a:solidFill>
              <a:srgbClr val="D52B1E"/>
            </a:solidFill>
            <a:ln w="31750" cap="flat">
              <a:solidFill>
                <a:srgbClr val="D52B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4A259"/>
              </a:solidFill>
              <a:ln w="9525" cap="flat">
                <a:solidFill>
                  <a:srgbClr val="D52B1E"/>
                </a:solidFill>
                <a:prstDash val="solid"/>
                <a:round/>
              </a:ln>
              <a:effectLst/>
            </c:spPr>
          </c:marker>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Sheet1!$C$2:$C$33</c:f>
              <c:numCache>
                <c:formatCode>General</c:formatCode>
                <c:ptCount val="32"/>
                <c:pt idx="0">
                  <c:v>88.2</c:v>
                </c:pt>
                <c:pt idx="1">
                  <c:v>96.6</c:v>
                </c:pt>
                <c:pt idx="2">
                  <c:v>93.4</c:v>
                </c:pt>
                <c:pt idx="3">
                  <c:v>95.6</c:v>
                </c:pt>
                <c:pt idx="4">
                  <c:v>97.3</c:v>
                </c:pt>
                <c:pt idx="5">
                  <c:v>98.8</c:v>
                </c:pt>
                <c:pt idx="6">
                  <c:v>98.1</c:v>
                </c:pt>
                <c:pt idx="7">
                  <c:v>98.1</c:v>
                </c:pt>
                <c:pt idx="8">
                  <c:v>98.4</c:v>
                </c:pt>
                <c:pt idx="9">
                  <c:v>99.2</c:v>
                </c:pt>
                <c:pt idx="10">
                  <c:v>98.5</c:v>
                </c:pt>
                <c:pt idx="11">
                  <c:v>99.3</c:v>
                </c:pt>
                <c:pt idx="12">
                  <c:v>98.9</c:v>
                </c:pt>
                <c:pt idx="13">
                  <c:v>94.1</c:v>
                </c:pt>
                <c:pt idx="14">
                  <c:v>73.1</c:v>
                </c:pt>
                <c:pt idx="15">
                  <c:v>62.8</c:v>
                </c:pt>
                <c:pt idx="16">
                  <c:v>55.6</c:v>
                </c:pt>
                <c:pt idx="17">
                  <c:v>48.9</c:v>
                </c:pt>
                <c:pt idx="18">
                  <c:v>43.6</c:v>
                </c:pt>
                <c:pt idx="19">
                  <c:v>40.8</c:v>
                </c:pt>
                <c:pt idx="20">
                  <c:v>37</c:v>
                </c:pt>
                <c:pt idx="21">
                  <c:v>33.8</c:v>
                </c:pt>
                <c:pt idx="22">
                  <c:v>30.7</c:v>
                </c:pt>
                <c:pt idx="23">
                  <c:v>28.1</c:v>
                </c:pt>
                <c:pt idx="24">
                  <c:v>25.3</c:v>
                </c:pt>
                <c:pt idx="25">
                  <c:v>23.6</c:v>
                </c:pt>
                <c:pt idx="26">
                  <c:v>21.9</c:v>
                </c:pt>
                <c:pt idx="27">
                  <c:v>21</c:v>
                </c:pt>
                <c:pt idx="28">
                  <c:v>19.6</c:v>
                </c:pt>
                <c:pt idx="29">
                  <c:v>18.5</c:v>
                </c:pt>
                <c:pt idx="30">
                  <c:v>17.5</c:v>
                </c:pt>
                <c:pt idx="31">
                  <c:v>17</c:v>
                </c:pt>
              </c:numCache>
            </c:numRef>
          </c:val>
          <c:smooth val="0"/>
        </c:ser>
        <c:ser>
          <c:idx val="2"/>
          <c:order val="2"/>
          <c:tx>
            <c:strRef>
              <c:f>Sheet1!$D$1</c:f>
              <c:strCache>
                <c:ptCount val="1"/>
                <c:pt idx="0">
                  <c:v>t2 offers, NG rules only</c:v>
                </c:pt>
              </c:strCache>
            </c:strRef>
          </c:tx>
          <c:spPr>
            <a:solidFill>
              <a:srgbClr val="F4A259"/>
            </a:solidFill>
            <a:ln w="31750" cap="flat">
              <a:solidFill>
                <a:srgbClr val="F4A2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70"/>
              </a:solidFill>
              <a:ln w="9525" cap="flat">
                <a:solidFill>
                  <a:srgbClr val="F4A259"/>
                </a:solidFill>
                <a:prstDash val="solid"/>
                <a:round/>
              </a:ln>
              <a:effectLst/>
            </c:spPr>
          </c:marker>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Sheet1!$D$2:$D$33</c:f>
              <c:numCache>
                <c:formatCode>General</c:formatCode>
                <c:ptCount val="32"/>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66.4</c:v>
                </c:pt>
                <c:pt idx="14">
                  <c:v>0</c:v>
                </c:pt>
                <c:pt idx="15">
                  <c:v>0</c:v>
                </c:pt>
                <c:pt idx="16">
                  <c:v>0</c:v>
                </c:pt>
                <c:pt idx="17">
                  <c:v>0</c:v>
                </c:pt>
                <c:pt idx="18">
                  <c:v>0.8</c:v>
                </c:pt>
                <c:pt idx="19">
                  <c:v>0</c:v>
                </c:pt>
                <c:pt idx="20">
                  <c:v>0</c:v>
                </c:pt>
                <c:pt idx="21">
                  <c:v>0.8</c:v>
                </c:pt>
                <c:pt idx="22">
                  <c:v>0</c:v>
                </c:pt>
                <c:pt idx="23">
                  <c:v>0</c:v>
                </c:pt>
                <c:pt idx="24">
                  <c:v>0</c:v>
                </c:pt>
                <c:pt idx="25">
                  <c:v>0</c:v>
                </c:pt>
                <c:pt idx="26">
                  <c:v>0</c:v>
                </c:pt>
                <c:pt idx="27">
                  <c:v>0.8</c:v>
                </c:pt>
                <c:pt idx="28">
                  <c:v>0</c:v>
                </c:pt>
                <c:pt idx="29">
                  <c:v>0.9</c:v>
                </c:pt>
                <c:pt idx="30">
                  <c:v>0.8</c:v>
                </c:pt>
                <c:pt idx="31">
                  <c:v>0</c:v>
                </c:pt>
              </c:numCache>
            </c:numRef>
          </c:val>
          <c:smooth val="0"/>
        </c:ser>
        <c:ser>
          <c:idx val="3"/>
          <c:order val="3"/>
          <c:tx>
            <c:strRef>
              <c:f>Sheet1!$E$1</c:f>
              <c:strCache>
                <c:ptCount val="1"/>
                <c:pt idx="0">
                  <c:v>Our rules</c:v>
                </c:pt>
              </c:strCache>
            </c:strRef>
          </c:tx>
          <c:spPr>
            <a:solidFill>
              <a:srgbClr val="1F8A70"/>
            </a:solidFill>
            <a:ln w="31750" cap="flat">
              <a:solidFill>
                <a:srgbClr val="1F8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4A259"/>
              </a:solidFill>
              <a:ln w="9525" cap="flat">
                <a:solidFill>
                  <a:srgbClr val="1F8A70"/>
                </a:solidFill>
                <a:prstDash val="solid"/>
                <a:round/>
              </a:ln>
              <a:effectLst/>
            </c:spPr>
          </c:marker>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Sheet1!$E$2:$E$33</c:f>
              <c:numCache>
                <c:formatCode>General</c:formatCode>
                <c:ptCount val="32"/>
                <c:pt idx="0">
                  <c:v>0</c:v>
                </c:pt>
                <c:pt idx="1">
                  <c:v>0</c:v>
                </c:pt>
                <c:pt idx="2">
                  <c:v>0</c:v>
                </c:pt>
                <c:pt idx="3">
                  <c:v>0.4</c:v>
                </c:pt>
                <c:pt idx="4">
                  <c:v>0</c:v>
                </c:pt>
                <c:pt idx="5">
                  <c:v>0</c:v>
                </c:pt>
                <c:pt idx="6">
                  <c:v>0</c:v>
                </c:pt>
                <c:pt idx="7">
                  <c:v>0.2</c:v>
                </c:pt>
                <c:pt idx="8">
                  <c:v>0</c:v>
                </c:pt>
                <c:pt idx="9">
                  <c:v>0</c:v>
                </c:pt>
                <c:pt idx="10">
                  <c:v>0.2</c:v>
                </c:pt>
                <c:pt idx="11">
                  <c:v>0</c:v>
                </c:pt>
                <c:pt idx="12">
                  <c:v>0.1</c:v>
                </c:pt>
                <c:pt idx="13">
                  <c:v>0.2</c:v>
                </c:pt>
                <c:pt idx="14">
                  <c:v>0</c:v>
                </c:pt>
                <c:pt idx="15">
                  <c:v>0.1</c:v>
                </c:pt>
                <c:pt idx="16">
                  <c:v>0.1</c:v>
                </c:pt>
                <c:pt idx="17">
                  <c:v>0.1</c:v>
                </c:pt>
                <c:pt idx="18">
                  <c:v>0.1</c:v>
                </c:pt>
                <c:pt idx="19">
                  <c:v>0.1</c:v>
                </c:pt>
                <c:pt idx="20">
                  <c:v>0.1</c:v>
                </c:pt>
                <c:pt idx="21">
                  <c:v>0.1</c:v>
                </c:pt>
                <c:pt idx="22">
                  <c:v>0.1</c:v>
                </c:pt>
                <c:pt idx="23">
                  <c:v>0.1</c:v>
                </c:pt>
                <c:pt idx="24">
                  <c:v>0.1</c:v>
                </c:pt>
                <c:pt idx="25">
                  <c:v>0</c:v>
                </c:pt>
                <c:pt idx="26">
                  <c:v>0</c:v>
                </c:pt>
                <c:pt idx="27">
                  <c:v>0</c:v>
                </c:pt>
                <c:pt idx="28">
                  <c:v>0</c:v>
                </c:pt>
                <c:pt idx="29">
                  <c:v>0.1</c:v>
                </c:pt>
                <c:pt idx="30">
                  <c:v>0.1</c:v>
                </c:pt>
                <c:pt idx="31">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F"/>
                </a:solidFill>
                <a:latin typeface="+mn-lt"/>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6350" cap="flat">
              <a:solidFill>
                <a:srgbClr val="E5E9EF"/>
              </a:solidFill>
              <a:prstDash val="solid"/>
              <a:round/>
            </a:ln>
          </c:spPr>
        </c:majorGridlines>
        <c:title>
          <c:tx>
            <c:rich>
              <a:bodyPr/>
              <a:lstStyle/>
              <a:p>
                <a:pPr>
                  <a:defRPr sz="1100" b="0" i="0" u="none" strike="noStrike">
                    <a:solidFill>
                      <a:srgbClr val="6B7A8F"/>
                    </a:solidFill>
                    <a:latin typeface="+mn-lt"/>
                  </a:defRPr>
                </a:pPr>
                <a:r>
                  <a:rPr sz="1100" b="0" i="0" u="none" strike="noStrike">
                    <a:solidFill>
                      <a:srgbClr val="6B7A8F"/>
                    </a:solidFill>
                    <a:latin typeface="+mn-lt"/>
                  </a:rPr>
                  <a:t>Wrong values per year</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8F"/>
                </a:solidFill>
                <a:latin typeface="+mn-lt"/>
              </a:defRPr>
            </a:pPr>
            <a:endParaRPr lang="en-US"/>
          </a:p>
        </c:txPr>
        <c:crossAx val="2094734554"/>
        <c:crosses val="autoZero"/>
        <c:crossBetween val="midCat"/>
        <c:majorUnit val="25"/>
      </c:valAx>
      <c:spPr>
        <a:noFill/>
        <a:ln>
          <a:noFill/>
        </a:ln>
        <a:effectLst/>
      </c:spPr>
    </c:plotArea>
    <c:legend>
      <c:legendPos val="b"/>
      <c:overlay val="0"/>
      <c:txPr>
        <a:bodyPr/>
        <a:lstStyle/>
        <a:p>
          <a:pPr>
            <a:defRPr sz="1100">
              <a:solidFill>
                <a:srgbClr val="2E40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NAMA from USI: Mohammad Javad Amin, Nava Biglar, Malihe Ghasemian and Emad Aghajani. Our challenge was the Neuron migration: rebuilding thirty years of insurance logic as code that an auditor can check. We show how we did it, and why the same method also worked on a task without any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NeuralWave Life wants to move its unit-linked policies from its legacy system Neuron to Lifeware. Neuron has run since 1994, first in COBOL and later in Java. The developers are gone and there is no source code. What we have is the export: 27 tables, 5,000 policies, almost seven million fund bookings, and the values Neuron calculated for part of the policies. And the bar is high: a value only counts if it matches to the cent and to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used AI as the detective, not as the calculator. One loader decodes all 27 tables from the old data dictionary. For each task we wrote the simplest rule and compared it with Neuron's numbers. Where it failed, machine learning told us why: a shallow decision tree on the wrong rows, a search over rounding and date conventions, and for the fund accounting a check of every single booking. Every finding became plain Python with exact decimals, so every cent can be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a method and not a one-off is the toolkit. Each tool answers a question that every migration has: where is the rule wrong, on which day did the system change, what do the differences say, which convention is it, and how do we learn when there are no targets. None of them knows anything about insurance. In notebook six each tool rediscovers one of our rules on its own, for example the conversion date in August 2007.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biggest discovery: Neuron is really two systems. Until the conversion in August 2007, COBOL truncated every amount, computed the age as days since birth divided by 365, charged the management fee by the day, and let due dates drift from the 31st to the 28th. Neuron NG rounds half up, uses the nearest birthday and charges a twelfth of the yearly rate. We also found operational details: the charge run at 1:30 in the morning only sees units traded before that day, and each fund buys on its own first price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this matters? We ran our own code once more, but moved the conversion to 1900, so the Neuron NG rules apply to every year. Then every offer of the COBOL era is wrong, and the statements stay wrong long after 2007, because the old errors live on in the fund balances: still 17 percent in 2025. With our era rules both lines drop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results on the public leaderboard: t0, t1 and t2 are perfect, t3 and t4 are at 99.93 and 99.99 percent, and every remaining difference there is a value someone changed by hand. Our outlier detection for task five finds them automatically: 55 values, all 38 from the official list and 17 that nobody had listed. On the surprise tax audit we reach 29 of 30 rows in the annual tax table and 10 of 40 payouts, which brings our average to 88.80 percent, up from 77 percent before. The next slides show how we found the tax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came the surprise: a tax audit for three countries since 1994, with no target values at all. We found the rules in four steps. First, weak labels: Neuron's own tax bookings have no amounts, but they say which tax it charged, so our gates match them exactly. Second, the leaderboard as an instrument: we gave each half of the policies a different rule, so one upload tested two ideas. Third, when the organisers published two samples, we traced every wrong row to its own rule and kept a rule only if it held on all 110 rows. And fourth, where no sample shows a case, the rule follows the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method. Each wrong row in the published samples pointed to one specific rule. Swiss payouts without tax still report the amount paid as base. A deadline on a weekend or holiday moves to the next business day, and in Switzerland 2 January is closed. Italian tax above 26 percent showed that the rate changes of 2012 and 2014 split the gain. German church members pay less capital gains tax, and German cents are cut off. Each rule was kept only if it held on every one of the 110 sample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real payout. The policy started in 2009, and Italy taxed its gain at 12.5, then 20, then 26 percent. Neuron does not apply today's rate to the whole gain: it values the policy on the last day of each rate period and taxes each part of the gain at the rate of its period. So this 15 percent withdrawal pays 847 euros, not the 1,356 of a flat 26 percent, exactly as in the audit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 on the leaderboard: the annual table went from 11 to 29 of 30 rows, and our average from 77 to almost 89 percent. On the two samples the organisers published we match every one of the 110 rows, one of them off by a single cent. One honest caveat: the leaderboard credits only our payout rows that carry a remittance date; the undated rows we match exactly in the published samples are not credited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samples covered only part of the patterns: the red cells here were never checked. There we let the law decide, as long as every sample row stays exact: Swiss withholding tax is due thirty days after the end of the month, and deadlines count from the month the money was paid, using the payout days of the product table, the one field no other task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no model runs in our submission, every rule is plain code backed by an exact test, and the discovery tools know nothing about insurance, so they are ready for the next migration.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8046720" cy="777240"/>
          </a:xfrm>
          <a:prstGeom prst="rect">
            <a:avLst/>
          </a:prstGeom>
          <a:noFill/>
          <a:ln/>
        </p:spPr>
        <p:txBody>
          <a:bodyPr wrap="square" rtlCol="0"/>
          <a:lstStyle>
            <a:lvl1pPr algn="l" indent="0" marL="0">
              <a:buNone/>
              <a:defRPr lang="en-US" sz="4000" b="1" dirty="0">
                <a:solidFill>
                  <a:schemeClr val="bg1"/>
                </a:solidFill>
                <a:latin typeface="Times New Roman" pitchFamily="34" charset="0"/>
                <a:ea typeface="Times New Roman" pitchFamily="34" charset="-122"/>
                <a:cs typeface="Times New Roman" pitchFamily="34" charset="-120"/>
              </a:defRPr>
            </a:lvl1pPr>
          </a:lstStyle>
          <a:p>
            <a:pPr algn="l" indent="0" marL="0">
              <a:buNone/>
            </a:pPr>
            <a:endParaRPr lang="en-US" sz="4000" dirty="0"/>
          </a:p>
        </p:txBody>
      </p:sp>
      <p:sp>
        <p:nvSpPr>
          <p:cNvPr id="3" name="Text 0"/>
          <p:cNvSpPr/>
          <p:nvPr>
            <p:ph idx="101" type="body" hasCustomPrompt="1"/>
          </p:nvPr>
        </p:nvSpPr>
        <p:spPr>
          <a:xfrm>
            <a:off x="548640" y="2697480"/>
            <a:ext cx="8046720" cy="6400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1"/>
                </a:solidFill>
                <a:latin typeface="Times New Roman" pitchFamily="34" charset="0"/>
                <a:ea typeface="Times New Roman" pitchFamily="34" charset="-122"/>
                <a:cs typeface="Times New Roman" pitchFamily="34" charset="-120"/>
              </a:defRPr>
            </a:lvl1pPr>
          </a:lstStyle>
          <a:p>
            <a:pPr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Team NAMA  ·  The Neuron Migration</a:t>
            </a:r>
            <a:endParaRPr lang="en-US" sz="1000" dirty="0"/>
          </a:p>
        </p:txBody>
      </p:sp>
      <p:pic>
        <p:nvPicPr>
          <p:cNvPr id="4" name="Image 0" descr="USI logo">    </p:cNvPr>
          <p:cNvPicPr>
            <a:picLocks noChangeAspect="1"/>
          </p:cNvPicPr>
          <p:nvPr/>
        </p:nvPicPr>
        <p:blipFill>
          <a:blip r:embed="rId1"/>
          <a:stretch>
            <a:fillRect/>
          </a:stretch>
        </p:blipFill>
        <p:spPr>
          <a:xfrm>
            <a:off x="7882128" y="4617720"/>
            <a:ext cx="822960" cy="462686"/>
          </a:xfrm>
          <a:prstGeom prst="rect">
            <a:avLst/>
          </a:prstGeom>
        </p:spPr>
      </p:pic>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548640" y="411480"/>
            <a:ext cx="2377440" cy="1417320"/>
          </a:xfrm>
          <a:prstGeom prst="roundRect">
            <a:avLst>
              <a:gd name="adj" fmla="val 5161"/>
            </a:avLst>
          </a:prstGeom>
          <a:solidFill>
            <a:schemeClr val="bg1"/>
          </a:solidFill>
          <a:ln w="12700">
            <a:solidFill>
              <a:schemeClr val="bg1"/>
            </a:solidFill>
            <a:prstDash val="solid"/>
          </a:ln>
        </p:spPr>
      </p:sp>
      <p:pic>
        <p:nvPicPr>
          <p:cNvPr id="3" name="USI logo" descr="Università della Svizzera italiana logo">    </p:cNvPr>
          <p:cNvPicPr>
            <a:picLocks noChangeAspect="1"/>
          </p:cNvPicPr>
          <p:nvPr/>
        </p:nvPicPr>
        <p:blipFill>
          <a:blip r:embed="rId1"/>
          <a:stretch>
            <a:fillRect/>
          </a:stretch>
        </p:blipFill>
        <p:spPr>
          <a:xfrm>
            <a:off x="640080" y="502920"/>
            <a:ext cx="2194560" cy="1234440"/>
          </a:xfrm>
          <a:prstGeom prst="rect">
            <a:avLst/>
          </a:prstGeom>
        </p:spPr>
      </p:pic>
      <p:sp>
        <p:nvSpPr>
          <p:cNvPr id="4" name="Event"/>
          <p:cNvSpPr txBox="1"/>
          <p:nvPr/>
        </p:nvSpPr>
        <p:spPr>
          <a:xfrm>
            <a:off x="4023360" y="548640"/>
            <a:ext cx="4572000" cy="320040"/>
          </a:xfrm>
          <a:prstGeom prst="rect">
            <a:avLst/>
          </a:prstGeom>
          <a:noFill/>
          <a:ln/>
        </p:spPr>
        <p:txBody>
          <a:bodyPr wrap="square" lIns="0" tIns="0" rIns="0" bIns="0" rtlCol="0" anchor="ctr"/>
          <a:lstStyle/>
          <a:p>
            <a:pPr algn="r" indent="0" marL="0">
              <a:buNone/>
            </a:pPr>
            <a:r>
              <a:rPr lang="en-US" sz="1200" dirty="0">
                <a:solidFill>
                  <a:schemeClr val="accent6"/>
                </a:solidFill>
              </a:rPr>
              <a:t>Lifeware Challenge  ·  Neural Wave AI Hackathon</a:t>
            </a:r>
            <a:endParaRPr lang="en-US" sz="1200" dirty="0"/>
          </a:p>
        </p:txBody>
      </p:sp>
      <p:sp>
        <p:nvSpPr>
          <p:cNvPr id="5" name="Text 0"/>
          <p:cNvSpPr/>
          <p:nvPr>
            <p:ph idx="100" type="title" hasCustomPrompt="1"/>
          </p:nvPr>
        </p:nvSpPr>
        <p:spPr>
          <a:xfrm>
            <a:off x="548640" y="1874520"/>
            <a:ext cx="8046720" cy="777240"/>
          </a:xfrm>
          <a:prstGeom prst="rect">
            <a:avLst/>
          </a:prstGeom>
          <a:noFill/>
          <a:ln/>
        </p:spPr>
        <p:txBody>
          <a:bodyPr wrap="square" lIns="0" tIns="0" rIns="0" bIns="0" rtlCol="0" anchor="b"/>
          <a:lstStyle/>
          <a:p>
            <a:pPr algn="l" indent="0" marL="0">
              <a:buNone/>
            </a:pPr>
            <a:r>
              <a:rPr lang="en-US" sz="4000" b="1" dirty="0">
                <a:solidFill>
                  <a:schemeClr val="bg1"/>
                </a:solidFill>
                <a:latin typeface="Times New Roman" pitchFamily="34" charset="0"/>
                <a:ea typeface="Times New Roman" pitchFamily="34" charset="-122"/>
                <a:cs typeface="Times New Roman" pitchFamily="34" charset="-120"/>
              </a:rPr>
              <a:t>The Neuron Migration</a:t>
            </a:r>
            <a:endParaRPr lang="en-US" sz="4000" dirty="0"/>
          </a:p>
        </p:txBody>
      </p:sp>
      <p:sp>
        <p:nvSpPr>
          <p:cNvPr id="6" name="Text 0"/>
          <p:cNvSpPr/>
          <p:nvPr>
            <p:ph idx="101" type="body" hasCustomPrompt="1"/>
          </p:nvPr>
        </p:nvSpPr>
        <p:spPr>
          <a:xfrm>
            <a:off x="548640" y="2697480"/>
            <a:ext cx="8046720" cy="640080"/>
          </a:xfrm>
          <a:prstGeom prst="rect">
            <a:avLst/>
          </a:prstGeom>
          <a:noFill/>
          <a:ln/>
        </p:spPr>
        <p:txBody>
          <a:bodyPr wrap="square" lIns="0" tIns="0" rIns="0" bIns="0" rtlCol="0" anchor="t"/>
          <a:lstStyle/>
          <a:p>
            <a:pPr algn="l" indent="0" marL="0">
              <a:buNone/>
            </a:pPr>
            <a:r>
              <a:rPr lang="en-US" sz="1800" dirty="0">
                <a:solidFill>
                  <a:schemeClr val="accent6"/>
                </a:solidFill>
              </a:rPr>
              <a:t>Reverse-engineering 30 years of insurance logic into code an auditor can check</a:t>
            </a:r>
            <a:endParaRPr lang="en-US" sz="1800" dirty="0"/>
          </a:p>
        </p:txBody>
      </p:sp>
      <p:sp>
        <p:nvSpPr>
          <p:cNvPr id="7" name="Team name"/>
          <p:cNvSpPr txBox="1"/>
          <p:nvPr/>
        </p:nvSpPr>
        <p:spPr>
          <a:xfrm>
            <a:off x="548640" y="3749040"/>
            <a:ext cx="365760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TEAM NAMA</a:t>
            </a:r>
            <a:endParaRPr lang="en-US" sz="1400" dirty="0"/>
          </a:p>
        </p:txBody>
      </p:sp>
      <p:sp>
        <p:nvSpPr>
          <p:cNvPr id="8" name="Members"/>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600" dirty="0">
                <a:solidFill>
                  <a:schemeClr val="bg1"/>
                </a:solidFill>
              </a:rPr>
              <a:t>Mohammad Javad Amin  ·  Nava Biglar  ·  Malihe Ghasemian  ·  Emad Aghajani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Match Neuron to the cent, without its code</a:t>
            </a:r>
            <a:endParaRPr lang="en-US" sz="3000" dirty="0"/>
          </a:p>
        </p:txBody>
      </p:sp>
      <p:sp>
        <p:nvSpPr>
          <p:cNvPr id="3" name="Story"/>
          <p:cNvSpPr txBox="1"/>
          <p:nvPr/>
        </p:nvSpPr>
        <p:spPr>
          <a:xfrm>
            <a:off x="457200" y="1188720"/>
            <a:ext cx="39319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NeuralWave Life moves its unit-linked policies from the legacy system Neuron to Lifeware</a:t>
            </a:r>
            <a:endParaRPr lang="en-US" sz="1600" dirty="0"/>
          </a:p>
          <a:p>
            <a:pPr marL="342900" indent="-342900">
              <a:spcAft>
                <a:spcPts val="1000"/>
              </a:spcAft>
              <a:buSzPct val="100000"/>
              <a:buChar char="•"/>
            </a:pPr>
            <a:r>
              <a:rPr lang="en-US" sz="1600" dirty="0">
                <a:solidFill>
                  <a:schemeClr val="tx1"/>
                </a:solidFill>
              </a:rPr>
              <a:t>Neuron grew from COBOL to Java since 1994; the developers are gone, the documentation is incomplete</a:t>
            </a:r>
            <a:endParaRPr lang="en-US" sz="1600" dirty="0"/>
          </a:p>
          <a:p>
            <a:pPr marL="342900" indent="-342900">
              <a:spcAft>
                <a:spcPts val="1000"/>
              </a:spcAft>
              <a:buSzPct val="100000"/>
              <a:buChar char="•"/>
            </a:pPr>
            <a:r>
              <a:rPr lang="en-US" sz="1600" dirty="0">
                <a:solidFill>
                  <a:schemeClr val="tx1"/>
                </a:solidFill>
              </a:rPr>
              <a:t>Only the data is left, and Neuron's results for part of the policies</a:t>
            </a:r>
            <a:endParaRPr lang="en-US" sz="1600" dirty="0"/>
          </a:p>
        </p:txBody>
      </p:sp>
      <p:sp>
        <p:nvSpPr>
          <p:cNvPr id="4" name="Scoring rule"/>
          <p:cNvSpPr txBox="1"/>
          <p:nvPr/>
        </p:nvSpPr>
        <p:spPr>
          <a:xfrm>
            <a:off x="457200" y="3886200"/>
            <a:ext cx="3931920" cy="548640"/>
          </a:xfrm>
          <a:prstGeom prst="rect">
            <a:avLst/>
          </a:prstGeom>
          <a:noFill/>
          <a:ln/>
        </p:spPr>
        <p:txBody>
          <a:bodyPr wrap="square" lIns="0" tIns="0" rIns="0" bIns="0" rtlCol="0" anchor="ctr"/>
          <a:lstStyle/>
          <a:p>
            <a:pPr indent="0" marL="0">
              <a:buNone/>
            </a:pPr>
            <a:r>
              <a:rPr lang="en-US" sz="1500" i="1" dirty="0">
                <a:solidFill>
                  <a:schemeClr val="accent1"/>
                </a:solidFill>
              </a:rPr>
              <a:t>A value counts only if it is exact: to the cent and to the day.</a:t>
            </a:r>
            <a:endParaRPr lang="en-US" sz="1500" dirty="0"/>
          </a:p>
        </p:txBody>
      </p:sp>
      <p:sp>
        <p:nvSpPr>
          <p:cNvPr id="5" name="Stat card 1"/>
          <p:cNvSpPr/>
          <p:nvPr/>
        </p:nvSpPr>
        <p:spPr>
          <a:xfrm>
            <a:off x="4754880" y="1188720"/>
            <a:ext cx="1874520" cy="1463040"/>
          </a:xfrm>
          <a:prstGeom prst="roundRect">
            <a:avLst>
              <a:gd name="adj" fmla="val 5000"/>
            </a:avLst>
          </a:prstGeom>
          <a:solidFill>
            <a:schemeClr val="bg2"/>
          </a:solidFill>
          <a:ln w="12700">
            <a:solidFill>
              <a:schemeClr val="bg2"/>
            </a:solidFill>
            <a:prstDash val="solid"/>
          </a:ln>
        </p:spPr>
      </p:sp>
      <p:sp>
        <p:nvSpPr>
          <p:cNvPr id="6" name="Stat value 1"/>
          <p:cNvSpPr txBox="1"/>
          <p:nvPr/>
        </p:nvSpPr>
        <p:spPr>
          <a:xfrm>
            <a:off x="4892040" y="1371600"/>
            <a:ext cx="1600200" cy="685800"/>
          </a:xfrm>
          <a:prstGeom prst="rect">
            <a:avLst/>
          </a:prstGeom>
          <a:noFill/>
          <a:ln/>
        </p:spPr>
        <p:txBody>
          <a:bodyPr wrap="square" lIns="0" tIns="0" rIns="0" bIns="0" rtlCol="0" anchor="ctr"/>
          <a:lstStyle/>
          <a:p>
            <a:pPr indent="0" marL="0">
              <a:buNone/>
            </a:pPr>
            <a:r>
              <a:rPr lang="en-US" sz="3600" b="1" dirty="0">
                <a:solidFill>
                  <a:schemeClr val="tx1"/>
                </a:solidFill>
                <a:latin typeface="Times New Roman" pitchFamily="34" charset="0"/>
                <a:ea typeface="Times New Roman" pitchFamily="34" charset="-122"/>
                <a:cs typeface="Times New Roman" pitchFamily="34" charset="-120"/>
              </a:rPr>
              <a:t>5,000</a:t>
            </a:r>
            <a:endParaRPr lang="en-US" sz="3600" dirty="0"/>
          </a:p>
        </p:txBody>
      </p:sp>
      <p:sp>
        <p:nvSpPr>
          <p:cNvPr id="7" name="Stat label 1"/>
          <p:cNvSpPr txBox="1"/>
          <p:nvPr/>
        </p:nvSpPr>
        <p:spPr>
          <a:xfrm>
            <a:off x="4892040" y="2057400"/>
            <a:ext cx="1600200" cy="411480"/>
          </a:xfrm>
          <a:prstGeom prst="rect">
            <a:avLst/>
          </a:prstGeom>
          <a:noFill/>
          <a:ln/>
        </p:spPr>
        <p:txBody>
          <a:bodyPr wrap="square" lIns="0" tIns="0" rIns="0" bIns="0" rtlCol="0" anchor="ctr"/>
          <a:lstStyle/>
          <a:p>
            <a:pPr indent="0" marL="0">
              <a:buNone/>
            </a:pPr>
            <a:r>
              <a:rPr lang="en-US" sz="1300" dirty="0">
                <a:solidFill>
                  <a:schemeClr val="tx2"/>
                </a:solidFill>
              </a:rPr>
              <a:t>policies since 1994</a:t>
            </a:r>
            <a:endParaRPr lang="en-US" sz="1300" dirty="0"/>
          </a:p>
        </p:txBody>
      </p:sp>
      <p:sp>
        <p:nvSpPr>
          <p:cNvPr id="8" name="Stat card 2"/>
          <p:cNvSpPr/>
          <p:nvPr/>
        </p:nvSpPr>
        <p:spPr>
          <a:xfrm>
            <a:off x="6766560" y="1188720"/>
            <a:ext cx="1874520" cy="1463040"/>
          </a:xfrm>
          <a:prstGeom prst="roundRect">
            <a:avLst>
              <a:gd name="adj" fmla="val 5000"/>
            </a:avLst>
          </a:prstGeom>
          <a:solidFill>
            <a:schemeClr val="bg2"/>
          </a:solidFill>
          <a:ln w="12700">
            <a:solidFill>
              <a:schemeClr val="bg2"/>
            </a:solidFill>
            <a:prstDash val="solid"/>
          </a:ln>
        </p:spPr>
      </p:sp>
      <p:sp>
        <p:nvSpPr>
          <p:cNvPr id="9" name="Stat value 2"/>
          <p:cNvSpPr txBox="1"/>
          <p:nvPr/>
        </p:nvSpPr>
        <p:spPr>
          <a:xfrm>
            <a:off x="6903720" y="1371600"/>
            <a:ext cx="1600200" cy="685800"/>
          </a:xfrm>
          <a:prstGeom prst="rect">
            <a:avLst/>
          </a:prstGeom>
          <a:noFill/>
          <a:ln/>
        </p:spPr>
        <p:txBody>
          <a:bodyPr wrap="square" lIns="0" tIns="0" rIns="0" bIns="0" rtlCol="0" anchor="ctr"/>
          <a:lstStyle/>
          <a:p>
            <a:pPr indent="0" marL="0">
              <a:buNone/>
            </a:pPr>
            <a:r>
              <a:rPr lang="en-US" sz="3600" b="1" dirty="0">
                <a:solidFill>
                  <a:schemeClr val="tx1"/>
                </a:solidFill>
                <a:latin typeface="Times New Roman" pitchFamily="34" charset="0"/>
                <a:ea typeface="Times New Roman" pitchFamily="34" charset="-122"/>
                <a:cs typeface="Times New Roman" pitchFamily="34" charset="-120"/>
              </a:rPr>
              <a:t>6.8 M</a:t>
            </a:r>
            <a:endParaRPr lang="en-US" sz="3600" dirty="0"/>
          </a:p>
        </p:txBody>
      </p:sp>
      <p:sp>
        <p:nvSpPr>
          <p:cNvPr id="10" name="Stat label 2"/>
          <p:cNvSpPr txBox="1"/>
          <p:nvPr/>
        </p:nvSpPr>
        <p:spPr>
          <a:xfrm>
            <a:off x="6903720" y="2057400"/>
            <a:ext cx="1600200" cy="411480"/>
          </a:xfrm>
          <a:prstGeom prst="rect">
            <a:avLst/>
          </a:prstGeom>
          <a:noFill/>
          <a:ln/>
        </p:spPr>
        <p:txBody>
          <a:bodyPr wrap="square" lIns="0" tIns="0" rIns="0" bIns="0" rtlCol="0" anchor="ctr"/>
          <a:lstStyle/>
          <a:p>
            <a:pPr indent="0" marL="0">
              <a:buNone/>
            </a:pPr>
            <a:r>
              <a:rPr lang="en-US" sz="1300" dirty="0">
                <a:solidFill>
                  <a:schemeClr val="tx2"/>
                </a:solidFill>
              </a:rPr>
              <a:t>unit bookings</a:t>
            </a:r>
            <a:endParaRPr lang="en-US" sz="1300" dirty="0"/>
          </a:p>
        </p:txBody>
      </p:sp>
      <p:sp>
        <p:nvSpPr>
          <p:cNvPr id="11" name="Stat card 3"/>
          <p:cNvSpPr/>
          <p:nvPr/>
        </p:nvSpPr>
        <p:spPr>
          <a:xfrm>
            <a:off x="4754880" y="2834640"/>
            <a:ext cx="1874520" cy="1463040"/>
          </a:xfrm>
          <a:prstGeom prst="roundRect">
            <a:avLst>
              <a:gd name="adj" fmla="val 5000"/>
            </a:avLst>
          </a:prstGeom>
          <a:solidFill>
            <a:schemeClr val="bg2"/>
          </a:solidFill>
          <a:ln w="12700">
            <a:solidFill>
              <a:schemeClr val="bg2"/>
            </a:solidFill>
            <a:prstDash val="solid"/>
          </a:ln>
        </p:spPr>
      </p:sp>
      <p:sp>
        <p:nvSpPr>
          <p:cNvPr id="12" name="Stat value 3"/>
          <p:cNvSpPr txBox="1"/>
          <p:nvPr/>
        </p:nvSpPr>
        <p:spPr>
          <a:xfrm>
            <a:off x="4892040" y="3017520"/>
            <a:ext cx="1600200" cy="685800"/>
          </a:xfrm>
          <a:prstGeom prst="rect">
            <a:avLst/>
          </a:prstGeom>
          <a:noFill/>
          <a:ln/>
        </p:spPr>
        <p:txBody>
          <a:bodyPr wrap="square" lIns="0" tIns="0" rIns="0" bIns="0" rtlCol="0" anchor="ctr"/>
          <a:lstStyle/>
          <a:p>
            <a:pPr indent="0" marL="0">
              <a:buNone/>
            </a:pPr>
            <a:r>
              <a:rPr lang="en-US" sz="3600" b="1" dirty="0">
                <a:solidFill>
                  <a:schemeClr val="tx1"/>
                </a:solidFill>
                <a:latin typeface="Times New Roman" pitchFamily="34" charset="0"/>
                <a:ea typeface="Times New Roman" pitchFamily="34" charset="-122"/>
                <a:cs typeface="Times New Roman" pitchFamily="34" charset="-120"/>
              </a:rPr>
              <a:t>27</a:t>
            </a:r>
            <a:endParaRPr lang="en-US" sz="3600" dirty="0"/>
          </a:p>
        </p:txBody>
      </p:sp>
      <p:sp>
        <p:nvSpPr>
          <p:cNvPr id="13" name="Stat label 3"/>
          <p:cNvSpPr txBox="1"/>
          <p:nvPr/>
        </p:nvSpPr>
        <p:spPr>
          <a:xfrm>
            <a:off x="4892040" y="3703320"/>
            <a:ext cx="1600200" cy="411480"/>
          </a:xfrm>
          <a:prstGeom prst="rect">
            <a:avLst/>
          </a:prstGeom>
          <a:noFill/>
          <a:ln/>
        </p:spPr>
        <p:txBody>
          <a:bodyPr wrap="square" lIns="0" tIns="0" rIns="0" bIns="0" rtlCol="0" anchor="ctr"/>
          <a:lstStyle/>
          <a:p>
            <a:pPr indent="0" marL="0">
              <a:buNone/>
            </a:pPr>
            <a:r>
              <a:rPr lang="en-US" sz="1300" dirty="0">
                <a:solidFill>
                  <a:schemeClr val="tx2"/>
                </a:solidFill>
              </a:rPr>
              <a:t>legacy tables</a:t>
            </a:r>
            <a:endParaRPr lang="en-US" sz="1300" dirty="0"/>
          </a:p>
        </p:txBody>
      </p:sp>
      <p:sp>
        <p:nvSpPr>
          <p:cNvPr id="14" name="Stat card 4"/>
          <p:cNvSpPr/>
          <p:nvPr/>
        </p:nvSpPr>
        <p:spPr>
          <a:xfrm>
            <a:off x="6766560" y="2834640"/>
            <a:ext cx="1874520" cy="1463040"/>
          </a:xfrm>
          <a:prstGeom prst="roundRect">
            <a:avLst>
              <a:gd name="adj" fmla="val 5000"/>
            </a:avLst>
          </a:prstGeom>
          <a:solidFill>
            <a:schemeClr val="bg2"/>
          </a:solidFill>
          <a:ln w="12700">
            <a:solidFill>
              <a:schemeClr val="bg2"/>
            </a:solidFill>
            <a:prstDash val="solid"/>
          </a:ln>
        </p:spPr>
      </p:sp>
      <p:sp>
        <p:nvSpPr>
          <p:cNvPr id="15" name="Stat value 4"/>
          <p:cNvSpPr txBox="1"/>
          <p:nvPr/>
        </p:nvSpPr>
        <p:spPr>
          <a:xfrm>
            <a:off x="6903720" y="3017520"/>
            <a:ext cx="1600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Times New Roman" pitchFamily="34" charset="0"/>
                <a:ea typeface="Times New Roman" pitchFamily="34" charset="-122"/>
                <a:cs typeface="Times New Roman" pitchFamily="34" charset="-120"/>
              </a:rPr>
              <a:t>0</a:t>
            </a:r>
            <a:endParaRPr lang="en-US" sz="3600" dirty="0"/>
          </a:p>
        </p:txBody>
      </p:sp>
      <p:sp>
        <p:nvSpPr>
          <p:cNvPr id="16" name="Stat label 4"/>
          <p:cNvSpPr txBox="1"/>
          <p:nvPr/>
        </p:nvSpPr>
        <p:spPr>
          <a:xfrm>
            <a:off x="6903720" y="3703320"/>
            <a:ext cx="1600200" cy="411480"/>
          </a:xfrm>
          <a:prstGeom prst="rect">
            <a:avLst/>
          </a:prstGeom>
          <a:noFill/>
          <a:ln/>
        </p:spPr>
        <p:txBody>
          <a:bodyPr wrap="square" lIns="0" tIns="0" rIns="0" bIns="0" rtlCol="0" anchor="ctr"/>
          <a:lstStyle/>
          <a:p>
            <a:pPr indent="0" marL="0">
              <a:buNone/>
            </a:pPr>
            <a:r>
              <a:rPr lang="en-US" sz="1300" dirty="0">
                <a:solidFill>
                  <a:schemeClr val="tx2"/>
                </a:solidFill>
              </a:rPr>
              <a:t>lines of source code</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AI is the detective, code is the answer</a:t>
            </a:r>
            <a:endParaRPr lang="en-US" sz="3000" dirty="0"/>
          </a:p>
        </p:txBody>
      </p:sp>
      <p:sp>
        <p:nvSpPr>
          <p:cNvPr id="3" name="Step circle 1"/>
          <p:cNvSpPr/>
          <p:nvPr/>
        </p:nvSpPr>
        <p:spPr>
          <a:xfrm>
            <a:off x="1051560" y="1188720"/>
            <a:ext cx="731520" cy="731520"/>
          </a:xfrm>
          <a:prstGeom prst="ellipse">
            <a:avLst/>
          </a:prstGeom>
          <a:solidFill>
            <a:schemeClr val="tx1"/>
          </a:solidFill>
          <a:ln w="12700">
            <a:solidFill>
              <a:schemeClr val="tx1"/>
            </a:solidFill>
            <a:prstDash val="solid"/>
          </a:ln>
        </p:spPr>
      </p:sp>
      <p:pic>
        <p:nvPicPr>
          <p:cNvPr id="4" name="Step icon 1" descr="Decode">    </p:cNvPr>
          <p:cNvPicPr>
            <a:picLocks noChangeAspect="1"/>
          </p:cNvPicPr>
          <p:nvPr/>
        </p:nvPicPr>
        <p:blipFill>
          <a:blip r:embed="rId1"/>
          <a:stretch>
            <a:fillRect/>
          </a:stretch>
        </p:blipFill>
        <p:spPr>
          <a:xfrm>
            <a:off x="1234440" y="1371600"/>
            <a:ext cx="365760" cy="365760"/>
          </a:xfrm>
          <a:prstGeom prst="rect">
            <a:avLst/>
          </a:prstGeom>
        </p:spPr>
      </p:pic>
      <p:sp>
        <p:nvSpPr>
          <p:cNvPr id="5" name="Arrow 1"/>
          <p:cNvSpPr/>
          <p:nvPr/>
        </p:nvSpPr>
        <p:spPr>
          <a:xfrm>
            <a:off x="2240280" y="1417320"/>
            <a:ext cx="228600" cy="274320"/>
          </a:xfrm>
          <a:prstGeom prst="chevron">
            <a:avLst/>
          </a:prstGeom>
          <a:solidFill>
            <a:schemeClr val="accent6"/>
          </a:solidFill>
          <a:ln w="12700">
            <a:solidFill>
              <a:schemeClr val="accent6"/>
            </a:solidFill>
            <a:prstDash val="solid"/>
          </a:ln>
        </p:spPr>
      </p:sp>
      <p:sp>
        <p:nvSpPr>
          <p:cNvPr id="6" name="Step title 1"/>
          <p:cNvSpPr txBox="1"/>
          <p:nvPr/>
        </p:nvSpPr>
        <p:spPr>
          <a:xfrm>
            <a:off x="45720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1  Decode</a:t>
            </a:r>
            <a:endParaRPr lang="en-US" sz="1600" dirty="0"/>
          </a:p>
        </p:txBody>
      </p:sp>
      <p:sp>
        <p:nvSpPr>
          <p:cNvPr id="7" name="Step text 1"/>
          <p:cNvSpPr txBox="1"/>
          <p:nvPr/>
        </p:nvSpPr>
        <p:spPr>
          <a:xfrm>
            <a:off x="45720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One loader for all 27 tables, driven by the data dictionary NRDICT</a:t>
            </a:r>
            <a:endParaRPr lang="en-US" sz="1400" dirty="0"/>
          </a:p>
        </p:txBody>
      </p:sp>
      <p:sp>
        <p:nvSpPr>
          <p:cNvPr id="8" name="Step circle 2"/>
          <p:cNvSpPr/>
          <p:nvPr/>
        </p:nvSpPr>
        <p:spPr>
          <a:xfrm>
            <a:off x="3154680" y="1188720"/>
            <a:ext cx="731520" cy="731520"/>
          </a:xfrm>
          <a:prstGeom prst="ellipse">
            <a:avLst/>
          </a:prstGeom>
          <a:solidFill>
            <a:schemeClr val="tx1"/>
          </a:solidFill>
          <a:ln w="12700">
            <a:solidFill>
              <a:schemeClr val="tx1"/>
            </a:solidFill>
            <a:prstDash val="solid"/>
          </a:ln>
        </p:spPr>
      </p:sp>
      <p:pic>
        <p:nvPicPr>
          <p:cNvPr id="9" name="Step icon 2" descr="Guess">    </p:cNvPr>
          <p:cNvPicPr>
            <a:picLocks noChangeAspect="1"/>
          </p:cNvPicPr>
          <p:nvPr/>
        </p:nvPicPr>
        <p:blipFill>
          <a:blip r:embed="rId2"/>
          <a:stretch>
            <a:fillRect/>
          </a:stretch>
        </p:blipFill>
        <p:spPr>
          <a:xfrm>
            <a:off x="3337560" y="1371600"/>
            <a:ext cx="365760" cy="365760"/>
          </a:xfrm>
          <a:prstGeom prst="rect">
            <a:avLst/>
          </a:prstGeom>
        </p:spPr>
      </p:pic>
      <p:sp>
        <p:nvSpPr>
          <p:cNvPr id="10" name="Arrow 2"/>
          <p:cNvSpPr/>
          <p:nvPr/>
        </p:nvSpPr>
        <p:spPr>
          <a:xfrm>
            <a:off x="4343400" y="1417320"/>
            <a:ext cx="228600" cy="274320"/>
          </a:xfrm>
          <a:prstGeom prst="chevron">
            <a:avLst/>
          </a:prstGeom>
          <a:solidFill>
            <a:schemeClr val="accent6"/>
          </a:solidFill>
          <a:ln w="12700">
            <a:solidFill>
              <a:schemeClr val="accent6"/>
            </a:solidFill>
            <a:prstDash val="solid"/>
          </a:ln>
        </p:spPr>
      </p:sp>
      <p:sp>
        <p:nvSpPr>
          <p:cNvPr id="11" name="Step title 2"/>
          <p:cNvSpPr txBox="1"/>
          <p:nvPr/>
        </p:nvSpPr>
        <p:spPr>
          <a:xfrm>
            <a:off x="256032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2  Guess</a:t>
            </a:r>
            <a:endParaRPr lang="en-US" sz="1600" dirty="0"/>
          </a:p>
        </p:txBody>
      </p:sp>
      <p:sp>
        <p:nvSpPr>
          <p:cNvPr id="12" name="Step text 2"/>
          <p:cNvSpPr txBox="1"/>
          <p:nvPr/>
        </p:nvSpPr>
        <p:spPr>
          <a:xfrm>
            <a:off x="256032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The simplest rule the task text suggests</a:t>
            </a:r>
            <a:endParaRPr lang="en-US" sz="1400" dirty="0"/>
          </a:p>
        </p:txBody>
      </p:sp>
      <p:sp>
        <p:nvSpPr>
          <p:cNvPr id="13" name="Step circle 3"/>
          <p:cNvSpPr/>
          <p:nvPr/>
        </p:nvSpPr>
        <p:spPr>
          <a:xfrm>
            <a:off x="5257800" y="1188720"/>
            <a:ext cx="731520" cy="731520"/>
          </a:xfrm>
          <a:prstGeom prst="ellipse">
            <a:avLst/>
          </a:prstGeom>
          <a:solidFill>
            <a:schemeClr val="accent1"/>
          </a:solidFill>
          <a:ln w="12700">
            <a:solidFill>
              <a:schemeClr val="accent1"/>
            </a:solidFill>
            <a:prstDash val="solid"/>
          </a:ln>
        </p:spPr>
      </p:sp>
      <p:pic>
        <p:nvPicPr>
          <p:cNvPr id="14" name="Step icon 3" descr="Explain the misses">    </p:cNvPr>
          <p:cNvPicPr>
            <a:picLocks noChangeAspect="1"/>
          </p:cNvPicPr>
          <p:nvPr/>
        </p:nvPicPr>
        <p:blipFill>
          <a:blip r:embed="rId3"/>
          <a:stretch>
            <a:fillRect/>
          </a:stretch>
        </p:blipFill>
        <p:spPr>
          <a:xfrm>
            <a:off x="5440680" y="1371600"/>
            <a:ext cx="365760" cy="365760"/>
          </a:xfrm>
          <a:prstGeom prst="rect">
            <a:avLst/>
          </a:prstGeom>
        </p:spPr>
      </p:pic>
      <p:sp>
        <p:nvSpPr>
          <p:cNvPr id="15" name="Arrow 3"/>
          <p:cNvSpPr/>
          <p:nvPr/>
        </p:nvSpPr>
        <p:spPr>
          <a:xfrm>
            <a:off x="6446520" y="1417320"/>
            <a:ext cx="228600" cy="274320"/>
          </a:xfrm>
          <a:prstGeom prst="chevron">
            <a:avLst/>
          </a:prstGeom>
          <a:solidFill>
            <a:schemeClr val="accent6"/>
          </a:solidFill>
          <a:ln w="12700">
            <a:solidFill>
              <a:schemeClr val="accent6"/>
            </a:solidFill>
            <a:prstDash val="solid"/>
          </a:ln>
        </p:spPr>
      </p:sp>
      <p:sp>
        <p:nvSpPr>
          <p:cNvPr id="16" name="Step title 3"/>
          <p:cNvSpPr txBox="1"/>
          <p:nvPr/>
        </p:nvSpPr>
        <p:spPr>
          <a:xfrm>
            <a:off x="466344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3  Explain the misses</a:t>
            </a:r>
            <a:endParaRPr lang="en-US" sz="1600" dirty="0"/>
          </a:p>
        </p:txBody>
      </p:sp>
      <p:sp>
        <p:nvSpPr>
          <p:cNvPr id="17" name="Step text 3"/>
          <p:cNvSpPr txBox="1"/>
          <p:nvPr/>
        </p:nvSpPr>
        <p:spPr>
          <a:xfrm>
            <a:off x="466344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Decision-tree rule finder, convention search, booking-by-booking checks</a:t>
            </a:r>
            <a:endParaRPr lang="en-US" sz="1400" dirty="0"/>
          </a:p>
        </p:txBody>
      </p:sp>
      <p:sp>
        <p:nvSpPr>
          <p:cNvPr id="18" name="Step circle 4"/>
          <p:cNvSpPr/>
          <p:nvPr/>
        </p:nvSpPr>
        <p:spPr>
          <a:xfrm>
            <a:off x="7360920" y="1188720"/>
            <a:ext cx="731520" cy="731520"/>
          </a:xfrm>
          <a:prstGeom prst="ellipse">
            <a:avLst/>
          </a:prstGeom>
          <a:solidFill>
            <a:schemeClr val="tx1"/>
          </a:solidFill>
          <a:ln w="12700">
            <a:solidFill>
              <a:schemeClr val="tx1"/>
            </a:solidFill>
            <a:prstDash val="solid"/>
          </a:ln>
        </p:spPr>
      </p:sp>
      <p:pic>
        <p:nvPicPr>
          <p:cNvPr id="19" name="Step icon 4" descr="Encode">    </p:cNvPr>
          <p:cNvPicPr>
            <a:picLocks noChangeAspect="1"/>
          </p:cNvPicPr>
          <p:nvPr/>
        </p:nvPicPr>
        <p:blipFill>
          <a:blip r:embed="rId4"/>
          <a:stretch>
            <a:fillRect/>
          </a:stretch>
        </p:blipFill>
        <p:spPr>
          <a:xfrm>
            <a:off x="7543800" y="1371600"/>
            <a:ext cx="365760" cy="365760"/>
          </a:xfrm>
          <a:prstGeom prst="rect">
            <a:avLst/>
          </a:prstGeom>
        </p:spPr>
      </p:pic>
      <p:sp>
        <p:nvSpPr>
          <p:cNvPr id="20" name="Step title 4"/>
          <p:cNvSpPr txBox="1"/>
          <p:nvPr/>
        </p:nvSpPr>
        <p:spPr>
          <a:xfrm>
            <a:off x="676656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4  Encode</a:t>
            </a:r>
            <a:endParaRPr lang="en-US" sz="1600" dirty="0"/>
          </a:p>
        </p:txBody>
      </p:sp>
      <p:sp>
        <p:nvSpPr>
          <p:cNvPr id="21" name="Step text 4"/>
          <p:cNvSpPr txBox="1"/>
          <p:nvPr/>
        </p:nvSpPr>
        <p:spPr>
          <a:xfrm>
            <a:off x="676656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Plain Python with exact decimals, one small module per task</a:t>
            </a:r>
            <a:endParaRPr lang="en-US" sz="1400" dirty="0"/>
          </a:p>
        </p:txBody>
      </p:sp>
      <p:sp>
        <p:nvSpPr>
          <p:cNvPr id="22" name="Principle card"/>
          <p:cNvSpPr/>
          <p:nvPr/>
        </p:nvSpPr>
        <p:spPr>
          <a:xfrm>
            <a:off x="457200" y="3703320"/>
            <a:ext cx="8229600" cy="731520"/>
          </a:xfrm>
          <a:prstGeom prst="roundRect">
            <a:avLst>
              <a:gd name="adj" fmla="val 10000"/>
            </a:avLst>
          </a:prstGeom>
          <a:solidFill>
            <a:schemeClr val="bg2"/>
          </a:solidFill>
          <a:ln w="12700">
            <a:solidFill>
              <a:schemeClr val="bg2"/>
            </a:solidFill>
            <a:prstDash val="solid"/>
          </a:ln>
        </p:spPr>
      </p:sp>
      <p:sp>
        <p:nvSpPr>
          <p:cNvPr id="23" name="Principle"/>
          <p:cNvSpPr txBox="1"/>
          <p:nvPr/>
        </p:nvSpPr>
        <p:spPr>
          <a:xfrm>
            <a:off x="685800" y="3703320"/>
            <a:ext cx="7772400" cy="731520"/>
          </a:xfrm>
          <a:prstGeom prst="rect">
            <a:avLst/>
          </a:prstGeom>
          <a:noFill/>
          <a:ln/>
        </p:spPr>
        <p:txBody>
          <a:bodyPr wrap="square" lIns="0" tIns="0" rIns="0" bIns="0" rtlCol="0" anchor="ctr"/>
          <a:lstStyle/>
          <a:p>
            <a:pPr indent="0" marL="0">
              <a:buNone/>
            </a:pPr>
            <a:r>
              <a:rPr lang="en-US" sz="1500" b="1" dirty="0">
                <a:solidFill>
                  <a:schemeClr val="tx1"/>
                </a:solidFill>
              </a:rPr>
              <a:t>Machine learning shows where a rule breaks. </a:t>
            </a:r>
            <a:pPr indent="0" marL="0">
              <a:buNone/>
            </a:pPr>
            <a:r>
              <a:rPr lang="en-US" sz="1500" dirty="0">
                <a:solidFill>
                  <a:schemeClr val="tx1"/>
                </a:solidFill>
              </a:rPr>
              <a:t>The submission contains no model: every cent can be explained to an auditor.</a:t>
            </a:r>
            <a:endParaRPr lang="en-US" sz="15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One loop, six generic tools</a:t>
            </a:r>
            <a:endParaRPr lang="en-US" sz="3000" dirty="0"/>
          </a:p>
        </p:txBody>
      </p:sp>
      <p:sp>
        <p:nvSpPr>
          <p:cNvPr id="3" name="Toolkit card 1"/>
          <p:cNvSpPr/>
          <p:nvPr/>
        </p:nvSpPr>
        <p:spPr>
          <a:xfrm>
            <a:off x="457200" y="1097280"/>
            <a:ext cx="2651760" cy="1417320"/>
          </a:xfrm>
          <a:prstGeom prst="roundRect">
            <a:avLst>
              <a:gd name="adj" fmla="val 5161"/>
            </a:avLst>
          </a:prstGeom>
          <a:solidFill>
            <a:schemeClr val="bg2"/>
          </a:solidFill>
          <a:ln w="12700">
            <a:solidFill>
              <a:schemeClr val="bg2"/>
            </a:solidFill>
            <a:prstDash val="solid"/>
          </a:ln>
        </p:spPr>
      </p:sp>
      <p:sp>
        <p:nvSpPr>
          <p:cNvPr id="4" name="Toolkit circle 1"/>
          <p:cNvSpPr/>
          <p:nvPr/>
        </p:nvSpPr>
        <p:spPr>
          <a:xfrm>
            <a:off x="640080" y="1280160"/>
            <a:ext cx="457200" cy="457200"/>
          </a:xfrm>
          <a:prstGeom prst="ellipse">
            <a:avLst/>
          </a:prstGeom>
          <a:solidFill>
            <a:schemeClr val="tx1"/>
          </a:solidFill>
          <a:ln w="12700">
            <a:solidFill>
              <a:schemeClr val="tx1"/>
            </a:solidFill>
            <a:prstDash val="solid"/>
          </a:ln>
        </p:spPr>
      </p:sp>
      <p:pic>
        <p:nvPicPr>
          <p:cNvPr id="5" name="Toolkit icon 1" descr="Rule finder">    </p:cNvPr>
          <p:cNvPicPr>
            <a:picLocks noChangeAspect="1"/>
          </p:cNvPicPr>
          <p:nvPr/>
        </p:nvPicPr>
        <p:blipFill>
          <a:blip r:embed="rId1"/>
          <a:stretch>
            <a:fillRect/>
          </a:stretch>
        </p:blipFill>
        <p:spPr>
          <a:xfrm>
            <a:off x="749808" y="1389888"/>
            <a:ext cx="237744" cy="237744"/>
          </a:xfrm>
          <a:prstGeom prst="rect">
            <a:avLst/>
          </a:prstGeom>
        </p:spPr>
      </p:pic>
      <p:sp>
        <p:nvSpPr>
          <p:cNvPr id="6" name="Toolkit name 1"/>
          <p:cNvSpPr txBox="1"/>
          <p:nvPr/>
        </p:nvSpPr>
        <p:spPr>
          <a:xfrm>
            <a:off x="1234440" y="129844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Rule finder</a:t>
            </a:r>
            <a:endParaRPr lang="en-US" sz="1600" dirty="0"/>
          </a:p>
        </p:txBody>
      </p:sp>
      <p:sp>
        <p:nvSpPr>
          <p:cNvPr id="7" name="Toolkit text 1"/>
          <p:cNvSpPr txBox="1"/>
          <p:nvPr/>
        </p:nvSpPr>
        <p:spPr>
          <a:xfrm>
            <a:off x="640080" y="1828800"/>
            <a:ext cx="2331720" cy="594360"/>
          </a:xfrm>
          <a:prstGeom prst="rect">
            <a:avLst/>
          </a:prstGeom>
          <a:noFill/>
          <a:ln/>
        </p:spPr>
        <p:txBody>
          <a:bodyPr wrap="square" lIns="0" tIns="0" rIns="0" bIns="0" rtlCol="0" anchor="t"/>
          <a:lstStyle/>
          <a:p>
            <a:pPr indent="0" marL="0">
              <a:buNone/>
            </a:pPr>
            <a:r>
              <a:rPr lang="en-US" sz="1300" dirty="0">
                <a:solidFill>
                  <a:schemeClr val="tx2"/>
                </a:solidFill>
              </a:rPr>
              <a:t>Where is a rule wrong? → drifting due dates before 2007</a:t>
            </a:r>
            <a:endParaRPr lang="en-US" sz="1300" dirty="0"/>
          </a:p>
        </p:txBody>
      </p:sp>
      <p:sp>
        <p:nvSpPr>
          <p:cNvPr id="8" name="Toolkit card 2"/>
          <p:cNvSpPr/>
          <p:nvPr/>
        </p:nvSpPr>
        <p:spPr>
          <a:xfrm>
            <a:off x="3246120" y="1097280"/>
            <a:ext cx="2651760" cy="1417320"/>
          </a:xfrm>
          <a:prstGeom prst="roundRect">
            <a:avLst>
              <a:gd name="adj" fmla="val 5161"/>
            </a:avLst>
          </a:prstGeom>
          <a:solidFill>
            <a:schemeClr val="bg2"/>
          </a:solidFill>
          <a:ln w="12700">
            <a:solidFill>
              <a:schemeClr val="bg2"/>
            </a:solidFill>
            <a:prstDash val="solid"/>
          </a:ln>
        </p:spPr>
      </p:sp>
      <p:sp>
        <p:nvSpPr>
          <p:cNvPr id="9" name="Toolkit circle 2"/>
          <p:cNvSpPr/>
          <p:nvPr/>
        </p:nvSpPr>
        <p:spPr>
          <a:xfrm>
            <a:off x="3429000" y="1280160"/>
            <a:ext cx="457200" cy="457200"/>
          </a:xfrm>
          <a:prstGeom prst="ellipse">
            <a:avLst/>
          </a:prstGeom>
          <a:solidFill>
            <a:schemeClr val="tx1"/>
          </a:solidFill>
          <a:ln w="12700">
            <a:solidFill>
              <a:schemeClr val="tx1"/>
            </a:solidFill>
            <a:prstDash val="solid"/>
          </a:ln>
        </p:spPr>
      </p:sp>
      <p:pic>
        <p:nvPicPr>
          <p:cNvPr id="10" name="Toolkit icon 2" descr="Change points">    </p:cNvPr>
          <p:cNvPicPr>
            <a:picLocks noChangeAspect="1"/>
          </p:cNvPicPr>
          <p:nvPr/>
        </p:nvPicPr>
        <p:blipFill>
          <a:blip r:embed="rId2"/>
          <a:stretch>
            <a:fillRect/>
          </a:stretch>
        </p:blipFill>
        <p:spPr>
          <a:xfrm>
            <a:off x="3538728" y="1389888"/>
            <a:ext cx="237744" cy="237744"/>
          </a:xfrm>
          <a:prstGeom prst="rect">
            <a:avLst/>
          </a:prstGeom>
        </p:spPr>
      </p:pic>
      <p:sp>
        <p:nvSpPr>
          <p:cNvPr id="11" name="Toolkit name 2"/>
          <p:cNvSpPr txBox="1"/>
          <p:nvPr/>
        </p:nvSpPr>
        <p:spPr>
          <a:xfrm>
            <a:off x="4023360" y="129844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Change points</a:t>
            </a:r>
            <a:endParaRPr lang="en-US" sz="1600" dirty="0"/>
          </a:p>
        </p:txBody>
      </p:sp>
      <p:sp>
        <p:nvSpPr>
          <p:cNvPr id="12" name="Toolkit text 2"/>
          <p:cNvSpPr txBox="1"/>
          <p:nvPr/>
        </p:nvSpPr>
        <p:spPr>
          <a:xfrm>
            <a:off x="3429000" y="1828800"/>
            <a:ext cx="2331720" cy="594360"/>
          </a:xfrm>
          <a:prstGeom prst="rect">
            <a:avLst/>
          </a:prstGeom>
          <a:noFill/>
          <a:ln/>
        </p:spPr>
        <p:txBody>
          <a:bodyPr wrap="square" lIns="0" tIns="0" rIns="0" bIns="0" rtlCol="0" anchor="t"/>
          <a:lstStyle/>
          <a:p>
            <a:pPr indent="0" marL="0">
              <a:buNone/>
            </a:pPr>
            <a:r>
              <a:rPr lang="en-US" sz="1300" dirty="0">
                <a:solidFill>
                  <a:schemeClr val="tx2"/>
                </a:solidFill>
              </a:rPr>
              <a:t>When did the system change? → 2007-08-11</a:t>
            </a:r>
            <a:endParaRPr lang="en-US" sz="1300" dirty="0"/>
          </a:p>
        </p:txBody>
      </p:sp>
      <p:sp>
        <p:nvSpPr>
          <p:cNvPr id="13" name="Toolkit card 3"/>
          <p:cNvSpPr/>
          <p:nvPr/>
        </p:nvSpPr>
        <p:spPr>
          <a:xfrm>
            <a:off x="6035040" y="1097280"/>
            <a:ext cx="2651760" cy="1417320"/>
          </a:xfrm>
          <a:prstGeom prst="roundRect">
            <a:avLst>
              <a:gd name="adj" fmla="val 5161"/>
            </a:avLst>
          </a:prstGeom>
          <a:solidFill>
            <a:schemeClr val="bg2"/>
          </a:solidFill>
          <a:ln w="12700">
            <a:solidFill>
              <a:schemeClr val="bg2"/>
            </a:solidFill>
            <a:prstDash val="solid"/>
          </a:ln>
        </p:spPr>
      </p:sp>
      <p:sp>
        <p:nvSpPr>
          <p:cNvPr id="14" name="Toolkit circle 3"/>
          <p:cNvSpPr/>
          <p:nvPr/>
        </p:nvSpPr>
        <p:spPr>
          <a:xfrm>
            <a:off x="6217920" y="1280160"/>
            <a:ext cx="457200" cy="457200"/>
          </a:xfrm>
          <a:prstGeom prst="ellipse">
            <a:avLst/>
          </a:prstGeom>
          <a:solidFill>
            <a:schemeClr val="tx1"/>
          </a:solidFill>
          <a:ln w="12700">
            <a:solidFill>
              <a:schemeClr val="tx1"/>
            </a:solidFill>
            <a:prstDash val="solid"/>
          </a:ln>
        </p:spPr>
      </p:sp>
      <p:pic>
        <p:nvPicPr>
          <p:cNvPr id="15" name="Toolkit icon 3" descr="Residuals">    </p:cNvPr>
          <p:cNvPicPr>
            <a:picLocks noChangeAspect="1"/>
          </p:cNvPicPr>
          <p:nvPr/>
        </p:nvPicPr>
        <p:blipFill>
          <a:blip r:embed="rId3"/>
          <a:stretch>
            <a:fillRect/>
          </a:stretch>
        </p:blipFill>
        <p:spPr>
          <a:xfrm>
            <a:off x="6327648" y="1389888"/>
            <a:ext cx="237744" cy="237744"/>
          </a:xfrm>
          <a:prstGeom prst="rect">
            <a:avLst/>
          </a:prstGeom>
        </p:spPr>
      </p:pic>
      <p:sp>
        <p:nvSpPr>
          <p:cNvPr id="16" name="Toolkit name 3"/>
          <p:cNvSpPr txBox="1"/>
          <p:nvPr/>
        </p:nvSpPr>
        <p:spPr>
          <a:xfrm>
            <a:off x="6812280" y="129844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Residuals</a:t>
            </a:r>
            <a:endParaRPr lang="en-US" sz="1600" dirty="0"/>
          </a:p>
        </p:txBody>
      </p:sp>
      <p:sp>
        <p:nvSpPr>
          <p:cNvPr id="17" name="Toolkit text 3"/>
          <p:cNvSpPr txBox="1"/>
          <p:nvPr/>
        </p:nvSpPr>
        <p:spPr>
          <a:xfrm>
            <a:off x="6217920" y="1828800"/>
            <a:ext cx="2331720" cy="594360"/>
          </a:xfrm>
          <a:prstGeom prst="rect">
            <a:avLst/>
          </a:prstGeom>
          <a:noFill/>
          <a:ln/>
        </p:spPr>
        <p:txBody>
          <a:bodyPr wrap="square" lIns="0" tIns="0" rIns="0" bIns="0" rtlCol="0" anchor="t"/>
          <a:lstStyle/>
          <a:p>
            <a:pPr indent="0" marL="0">
              <a:buNone/>
            </a:pPr>
            <a:r>
              <a:rPr lang="en-US" sz="1300" dirty="0">
                <a:solidFill>
                  <a:schemeClr val="tx2"/>
                </a:solidFill>
              </a:rPr>
              <a:t>What do the differences say? → 31/360, cut-off cents</a:t>
            </a:r>
            <a:endParaRPr lang="en-US" sz="1300" dirty="0"/>
          </a:p>
        </p:txBody>
      </p:sp>
      <p:sp>
        <p:nvSpPr>
          <p:cNvPr id="18" name="Toolkit card 4"/>
          <p:cNvSpPr/>
          <p:nvPr/>
        </p:nvSpPr>
        <p:spPr>
          <a:xfrm>
            <a:off x="457200" y="2651760"/>
            <a:ext cx="2651760" cy="1417320"/>
          </a:xfrm>
          <a:prstGeom prst="roundRect">
            <a:avLst>
              <a:gd name="adj" fmla="val 5161"/>
            </a:avLst>
          </a:prstGeom>
          <a:solidFill>
            <a:schemeClr val="bg2"/>
          </a:solidFill>
          <a:ln w="12700">
            <a:solidFill>
              <a:schemeClr val="bg2"/>
            </a:solidFill>
            <a:prstDash val="solid"/>
          </a:ln>
        </p:spPr>
      </p:sp>
      <p:sp>
        <p:nvSpPr>
          <p:cNvPr id="19" name="Toolkit circle 4"/>
          <p:cNvSpPr/>
          <p:nvPr/>
        </p:nvSpPr>
        <p:spPr>
          <a:xfrm>
            <a:off x="640080" y="2834640"/>
            <a:ext cx="457200" cy="457200"/>
          </a:xfrm>
          <a:prstGeom prst="ellipse">
            <a:avLst/>
          </a:prstGeom>
          <a:solidFill>
            <a:schemeClr val="tx1"/>
          </a:solidFill>
          <a:ln w="12700">
            <a:solidFill>
              <a:schemeClr val="tx1"/>
            </a:solidFill>
            <a:prstDash val="solid"/>
          </a:ln>
        </p:spPr>
      </p:sp>
      <p:pic>
        <p:nvPicPr>
          <p:cNvPr id="20" name="Toolkit icon 4" descr="Convention search">    </p:cNvPr>
          <p:cNvPicPr>
            <a:picLocks noChangeAspect="1"/>
          </p:cNvPicPr>
          <p:nvPr/>
        </p:nvPicPr>
        <p:blipFill>
          <a:blip r:embed="rId4"/>
          <a:stretch>
            <a:fillRect/>
          </a:stretch>
        </p:blipFill>
        <p:spPr>
          <a:xfrm>
            <a:off x="749808" y="2944368"/>
            <a:ext cx="237744" cy="237744"/>
          </a:xfrm>
          <a:prstGeom prst="rect">
            <a:avLst/>
          </a:prstGeom>
        </p:spPr>
      </p:pic>
      <p:sp>
        <p:nvSpPr>
          <p:cNvPr id="21" name="Toolkit name 4"/>
          <p:cNvSpPr txBox="1"/>
          <p:nvPr/>
        </p:nvSpPr>
        <p:spPr>
          <a:xfrm>
            <a:off x="1234440" y="285292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Convention search</a:t>
            </a:r>
            <a:endParaRPr lang="en-US" sz="1600" dirty="0"/>
          </a:p>
        </p:txBody>
      </p:sp>
      <p:sp>
        <p:nvSpPr>
          <p:cNvPr id="22" name="Toolkit text 4"/>
          <p:cNvSpPr txBox="1"/>
          <p:nvPr/>
        </p:nvSpPr>
        <p:spPr>
          <a:xfrm>
            <a:off x="640080" y="3383280"/>
            <a:ext cx="2331720" cy="594360"/>
          </a:xfrm>
          <a:prstGeom prst="rect">
            <a:avLst/>
          </a:prstGeom>
          <a:noFill/>
          <a:ln/>
        </p:spPr>
        <p:txBody>
          <a:bodyPr wrap="square" lIns="0" tIns="0" rIns="0" bIns="0" rtlCol="0" anchor="t"/>
          <a:lstStyle/>
          <a:p>
            <a:pPr indent="0" marL="0">
              <a:buNone/>
            </a:pPr>
            <a:r>
              <a:rPr lang="en-US" sz="1300" dirty="0">
                <a:solidFill>
                  <a:schemeClr val="tx2"/>
                </a:solidFill>
              </a:rPr>
              <a:t>Which convention is it? → Actual/360, charge order</a:t>
            </a:r>
            <a:endParaRPr lang="en-US" sz="1300" dirty="0"/>
          </a:p>
        </p:txBody>
      </p:sp>
      <p:sp>
        <p:nvSpPr>
          <p:cNvPr id="23" name="Toolkit card 5"/>
          <p:cNvSpPr/>
          <p:nvPr/>
        </p:nvSpPr>
        <p:spPr>
          <a:xfrm>
            <a:off x="3246120" y="2651760"/>
            <a:ext cx="2651760" cy="1417320"/>
          </a:xfrm>
          <a:prstGeom prst="roundRect">
            <a:avLst>
              <a:gd name="adj" fmla="val 5161"/>
            </a:avLst>
          </a:prstGeom>
          <a:solidFill>
            <a:schemeClr val="bg2"/>
          </a:solidFill>
          <a:ln w="12700">
            <a:solidFill>
              <a:schemeClr val="bg2"/>
            </a:solidFill>
            <a:prstDash val="solid"/>
          </a:ln>
        </p:spPr>
      </p:sp>
      <p:sp>
        <p:nvSpPr>
          <p:cNvPr id="24" name="Toolkit circle 5"/>
          <p:cNvSpPr/>
          <p:nvPr/>
        </p:nvSpPr>
        <p:spPr>
          <a:xfrm>
            <a:off x="3429000" y="2834640"/>
            <a:ext cx="457200" cy="457200"/>
          </a:xfrm>
          <a:prstGeom prst="ellipse">
            <a:avLst/>
          </a:prstGeom>
          <a:solidFill>
            <a:schemeClr val="accent1"/>
          </a:solidFill>
          <a:ln w="12700">
            <a:solidFill>
              <a:schemeClr val="accent1"/>
            </a:solidFill>
            <a:prstDash val="solid"/>
          </a:ln>
        </p:spPr>
      </p:sp>
      <p:pic>
        <p:nvPicPr>
          <p:cNvPr id="25" name="Toolkit icon 5" descr="Weak labels">    </p:cNvPr>
          <p:cNvPicPr>
            <a:picLocks noChangeAspect="1"/>
          </p:cNvPicPr>
          <p:nvPr/>
        </p:nvPicPr>
        <p:blipFill>
          <a:blip r:embed="rId5"/>
          <a:stretch>
            <a:fillRect/>
          </a:stretch>
        </p:blipFill>
        <p:spPr>
          <a:xfrm>
            <a:off x="3538728" y="2944368"/>
            <a:ext cx="237744" cy="237744"/>
          </a:xfrm>
          <a:prstGeom prst="rect">
            <a:avLst/>
          </a:prstGeom>
        </p:spPr>
      </p:pic>
      <p:sp>
        <p:nvSpPr>
          <p:cNvPr id="26" name="Toolkit name 5"/>
          <p:cNvSpPr txBox="1"/>
          <p:nvPr/>
        </p:nvSpPr>
        <p:spPr>
          <a:xfrm>
            <a:off x="4023360" y="285292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Weak labels</a:t>
            </a:r>
            <a:endParaRPr lang="en-US" sz="1600" dirty="0"/>
          </a:p>
        </p:txBody>
      </p:sp>
      <p:sp>
        <p:nvSpPr>
          <p:cNvPr id="27" name="Toolkit text 5"/>
          <p:cNvSpPr txBox="1"/>
          <p:nvPr/>
        </p:nvSpPr>
        <p:spPr>
          <a:xfrm>
            <a:off x="3429000" y="3383280"/>
            <a:ext cx="2331720" cy="594360"/>
          </a:xfrm>
          <a:prstGeom prst="rect">
            <a:avLst/>
          </a:prstGeom>
          <a:noFill/>
          <a:ln/>
        </p:spPr>
        <p:txBody>
          <a:bodyPr wrap="square" lIns="0" tIns="0" rIns="0" bIns="0" rtlCol="0" anchor="t"/>
          <a:lstStyle/>
          <a:p>
            <a:pPr indent="0" marL="0">
              <a:buNone/>
            </a:pPr>
            <a:r>
              <a:rPr lang="en-US" sz="1300" dirty="0">
                <a:solidFill>
                  <a:schemeClr val="tx2"/>
                </a:solidFill>
              </a:rPr>
              <a:t>No targets? Learn from the legacy bookings → t7</a:t>
            </a:r>
            <a:endParaRPr lang="en-US" sz="1300" dirty="0"/>
          </a:p>
        </p:txBody>
      </p:sp>
      <p:sp>
        <p:nvSpPr>
          <p:cNvPr id="28" name="Toolkit card 6"/>
          <p:cNvSpPr/>
          <p:nvPr/>
        </p:nvSpPr>
        <p:spPr>
          <a:xfrm>
            <a:off x="6035040" y="2651760"/>
            <a:ext cx="2651760" cy="1417320"/>
          </a:xfrm>
          <a:prstGeom prst="roundRect">
            <a:avLst>
              <a:gd name="adj" fmla="val 5161"/>
            </a:avLst>
          </a:prstGeom>
          <a:solidFill>
            <a:schemeClr val="bg2"/>
          </a:solidFill>
          <a:ln w="12700">
            <a:solidFill>
              <a:schemeClr val="bg2"/>
            </a:solidFill>
            <a:prstDash val="solid"/>
          </a:ln>
        </p:spPr>
      </p:sp>
      <p:sp>
        <p:nvSpPr>
          <p:cNvPr id="29" name="Toolkit circle 6"/>
          <p:cNvSpPr/>
          <p:nvPr/>
        </p:nvSpPr>
        <p:spPr>
          <a:xfrm>
            <a:off x="6217920" y="2834640"/>
            <a:ext cx="457200" cy="457200"/>
          </a:xfrm>
          <a:prstGeom prst="ellipse">
            <a:avLst/>
          </a:prstGeom>
          <a:solidFill>
            <a:schemeClr val="tx1"/>
          </a:solidFill>
          <a:ln w="12700">
            <a:solidFill>
              <a:schemeClr val="tx1"/>
            </a:solidFill>
            <a:prstDash val="solid"/>
          </a:ln>
        </p:spPr>
      </p:sp>
      <p:pic>
        <p:nvPicPr>
          <p:cNvPr id="30" name="Toolkit icon 6" descr="Learned calendar">    </p:cNvPr>
          <p:cNvPicPr>
            <a:picLocks noChangeAspect="1"/>
          </p:cNvPicPr>
          <p:nvPr/>
        </p:nvPicPr>
        <p:blipFill>
          <a:blip r:embed="rId6"/>
          <a:stretch>
            <a:fillRect/>
          </a:stretch>
        </p:blipFill>
        <p:spPr>
          <a:xfrm>
            <a:off x="6327648" y="2944368"/>
            <a:ext cx="237744" cy="237744"/>
          </a:xfrm>
          <a:prstGeom prst="rect">
            <a:avLst/>
          </a:prstGeom>
        </p:spPr>
      </p:pic>
      <p:sp>
        <p:nvSpPr>
          <p:cNvPr id="31" name="Toolkit name 6"/>
          <p:cNvSpPr txBox="1"/>
          <p:nvPr/>
        </p:nvSpPr>
        <p:spPr>
          <a:xfrm>
            <a:off x="6812280" y="285292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Learned calendar</a:t>
            </a:r>
            <a:endParaRPr lang="en-US" sz="1600" dirty="0"/>
          </a:p>
        </p:txBody>
      </p:sp>
      <p:sp>
        <p:nvSpPr>
          <p:cNvPr id="32" name="Toolkit text 6"/>
          <p:cNvSpPr txBox="1"/>
          <p:nvPr/>
        </p:nvSpPr>
        <p:spPr>
          <a:xfrm>
            <a:off x="6217920" y="3383280"/>
            <a:ext cx="2331720" cy="594360"/>
          </a:xfrm>
          <a:prstGeom prst="rect">
            <a:avLst/>
          </a:prstGeom>
          <a:noFill/>
          <a:ln/>
        </p:spPr>
        <p:txBody>
          <a:bodyPr wrap="square" lIns="0" tIns="0" rIns="0" bIns="0" rtlCol="0" anchor="t"/>
          <a:lstStyle/>
          <a:p>
            <a:pPr indent="0" marL="0">
              <a:buNone/>
            </a:pPr>
            <a:r>
              <a:rPr lang="en-US" sz="1300" dirty="0">
                <a:solidFill>
                  <a:schemeClr val="tx2"/>
                </a:solidFill>
              </a:rPr>
              <a:t>Business days from the price days → Ticino holidays</a:t>
            </a:r>
            <a:endParaRPr lang="en-US" sz="1300" dirty="0"/>
          </a:p>
        </p:txBody>
      </p:sp>
      <p:sp>
        <p:nvSpPr>
          <p:cNvPr id="33" name="Toolkit caption"/>
          <p:cNvSpPr txBox="1"/>
          <p:nvPr/>
        </p:nvSpPr>
        <p:spPr>
          <a:xfrm>
            <a:off x="457200" y="4270248"/>
            <a:ext cx="8229600" cy="274320"/>
          </a:xfrm>
          <a:prstGeom prst="rect">
            <a:avLst/>
          </a:prstGeom>
          <a:noFill/>
          <a:ln/>
        </p:spPr>
        <p:txBody>
          <a:bodyPr wrap="square" lIns="0" tIns="0" rIns="0" bIns="0" rtlCol="0" anchor="ctr"/>
          <a:lstStyle/>
          <a:p>
            <a:pPr indent="0" marL="0">
              <a:buNone/>
            </a:pPr>
            <a:r>
              <a:rPr lang="en-US" sz="1200" i="1" dirty="0">
                <a:solidFill>
                  <a:schemeClr val="tx2"/>
                </a:solidFill>
              </a:rPr>
              <a:t>None of them knows anything about insurance: notebook 06 shows each one rediscovering one of our rules.</a:t>
            </a:r>
            <a:endParaRPr lang="en-US" sz="12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Neuron is really two systems</a:t>
            </a:r>
            <a:endParaRPr lang="en-US" sz="3000" dirty="0"/>
          </a:p>
        </p:txBody>
      </p:sp>
      <p:graphicFrame>
        <p:nvGraphicFramePr>
          <p:cNvPr id="6" name="COBOL vs NG"/>
          <p:cNvGraphicFramePr>
            <a:graphicFrameLocks noGrp="1"/>
          </p:cNvGraphicFramePr>
          <p:nvPr>
            <p:extLst>
              <p:ext uri="{D42A27DB-BD31-4B8C-83A1-F6EECF244321}">
                <p14:modId xmlns:p14="http://schemas.microsoft.com/office/powerpoint/2010/main" val="1579011935"/>
              </p:ext>
            </p:extLst>
          </p:nvPr>
        </p:nvGraphicFramePr>
        <p:xfrm>
          <a:off x="457200" y="1188720"/>
          <a:ext cx="5212080" cy="914400"/>
        </p:xfrm>
        <a:graphic>
          <a:graphicData uri="http://schemas.openxmlformats.org/drawingml/2006/table">
            <a:tbl>
              <a:tblPr/>
              <a:tblGrid>
                <a:gridCol w="1554480"/>
                <a:gridCol w="1828800"/>
                <a:gridCol w="1828800"/>
              </a:tblGrid>
              <a:tr h="566928">
                <a:tc>
                  <a:txBody>
                    <a:bodyPr/>
                    <a:lstStyle/>
                    <a:p>
                      <a:pPr indent="0" marL="0">
                        <a:buNone/>
                      </a:pP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COBOL, until 2007</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Neuron NG, Java</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Rounding</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truncate</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half up</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Insured age</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days since birth ÷ 365</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nearest birthday</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Management charge</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rate × days ÷ 360</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rate ÷ 12</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Due dates</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drift 31 → 30 → 28</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anchored, no drift</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4" name="Also title"/>
          <p:cNvSpPr txBox="1"/>
          <p:nvPr/>
        </p:nvSpPr>
        <p:spPr>
          <a:xfrm>
            <a:off x="5989320" y="1188720"/>
            <a:ext cx="2697480" cy="320040"/>
          </a:xfrm>
          <a:prstGeom prst="rect">
            <a:avLst/>
          </a:prstGeom>
          <a:noFill/>
          <a:ln/>
        </p:spPr>
        <p:txBody>
          <a:bodyPr wrap="square" lIns="0" tIns="0" rIns="0" bIns="0" rtlCol="0" anchor="ctr"/>
          <a:lstStyle/>
          <a:p>
            <a:pPr indent="0" marL="0">
              <a:buNone/>
            </a:pPr>
            <a:r>
              <a:rPr lang="en-US" sz="1600" b="1" dirty="0">
                <a:solidFill>
                  <a:schemeClr val="tx1"/>
                </a:solidFill>
              </a:rPr>
              <a:t>Also hidden in the data</a:t>
            </a:r>
            <a:endParaRPr lang="en-US" sz="1600" dirty="0"/>
          </a:p>
        </p:txBody>
      </p:sp>
      <p:sp>
        <p:nvSpPr>
          <p:cNvPr id="5" name="Extra card 1"/>
          <p:cNvSpPr/>
          <p:nvPr/>
        </p:nvSpPr>
        <p:spPr>
          <a:xfrm>
            <a:off x="5989320" y="1645920"/>
            <a:ext cx="2697480" cy="777240"/>
          </a:xfrm>
          <a:prstGeom prst="roundRect">
            <a:avLst>
              <a:gd name="adj" fmla="val 9412"/>
            </a:avLst>
          </a:prstGeom>
          <a:solidFill>
            <a:schemeClr val="bg2"/>
          </a:solidFill>
          <a:ln w="12700">
            <a:solidFill>
              <a:schemeClr val="bg2"/>
            </a:solidFill>
            <a:prstDash val="solid"/>
          </a:ln>
        </p:spPr>
      </p:sp>
      <p:sp>
        <p:nvSpPr>
          <p:cNvPr id="6" name="Extra circle 1"/>
          <p:cNvSpPr/>
          <p:nvPr/>
        </p:nvSpPr>
        <p:spPr>
          <a:xfrm>
            <a:off x="6126480" y="1828800"/>
            <a:ext cx="411480" cy="411480"/>
          </a:xfrm>
          <a:prstGeom prst="ellipse">
            <a:avLst/>
          </a:prstGeom>
          <a:solidFill>
            <a:schemeClr val="accent1"/>
          </a:solidFill>
          <a:ln w="12700">
            <a:solidFill>
              <a:schemeClr val="accent1"/>
            </a:solidFill>
            <a:prstDash val="solid"/>
          </a:ln>
        </p:spPr>
      </p:sp>
      <p:pic>
        <p:nvPicPr>
          <p:cNvPr id="7" name="Extra icon 1" descr="preencoded.png">    </p:cNvPr>
          <p:cNvPicPr>
            <a:picLocks noChangeAspect="1"/>
          </p:cNvPicPr>
          <p:nvPr/>
        </p:nvPicPr>
        <p:blipFill>
          <a:blip r:embed="rId1"/>
          <a:stretch>
            <a:fillRect/>
          </a:stretch>
        </p:blipFill>
        <p:spPr>
          <a:xfrm>
            <a:off x="6217920" y="1920240"/>
            <a:ext cx="228600" cy="228600"/>
          </a:xfrm>
          <a:prstGeom prst="rect">
            <a:avLst/>
          </a:prstGeom>
        </p:spPr>
      </p:pic>
      <p:sp>
        <p:nvSpPr>
          <p:cNvPr id="8" name="Extra text 1"/>
          <p:cNvSpPr txBox="1"/>
          <p:nvPr/>
        </p:nvSpPr>
        <p:spPr>
          <a:xfrm>
            <a:off x="6675120" y="1645920"/>
            <a:ext cx="1920240" cy="777240"/>
          </a:xfrm>
          <a:prstGeom prst="rect">
            <a:avLst/>
          </a:prstGeom>
          <a:noFill/>
          <a:ln/>
        </p:spPr>
        <p:txBody>
          <a:bodyPr wrap="square" lIns="0" tIns="0" rIns="0" bIns="0" rtlCol="0" anchor="ctr"/>
          <a:lstStyle/>
          <a:p>
            <a:pPr indent="0" marL="0">
              <a:buNone/>
            </a:pPr>
            <a:r>
              <a:rPr lang="en-US" sz="1300" dirty="0">
                <a:solidFill>
                  <a:schemeClr val="tx1"/>
                </a:solidFill>
              </a:rPr>
              <a:t>The 01:30 charge run sees only units traded before the day</a:t>
            </a:r>
            <a:endParaRPr lang="en-US" sz="1300" dirty="0"/>
          </a:p>
        </p:txBody>
      </p:sp>
      <p:sp>
        <p:nvSpPr>
          <p:cNvPr id="9" name="Extra card 2"/>
          <p:cNvSpPr/>
          <p:nvPr/>
        </p:nvSpPr>
        <p:spPr>
          <a:xfrm>
            <a:off x="5989320" y="2560320"/>
            <a:ext cx="2697480" cy="777240"/>
          </a:xfrm>
          <a:prstGeom prst="roundRect">
            <a:avLst>
              <a:gd name="adj" fmla="val 9412"/>
            </a:avLst>
          </a:prstGeom>
          <a:solidFill>
            <a:schemeClr val="bg2"/>
          </a:solidFill>
          <a:ln w="12700">
            <a:solidFill>
              <a:schemeClr val="bg2"/>
            </a:solidFill>
            <a:prstDash val="solid"/>
          </a:ln>
        </p:spPr>
      </p:sp>
      <p:sp>
        <p:nvSpPr>
          <p:cNvPr id="10" name="Extra circle 2"/>
          <p:cNvSpPr/>
          <p:nvPr/>
        </p:nvSpPr>
        <p:spPr>
          <a:xfrm>
            <a:off x="6126480" y="2743200"/>
            <a:ext cx="411480" cy="411480"/>
          </a:xfrm>
          <a:prstGeom prst="ellipse">
            <a:avLst/>
          </a:prstGeom>
          <a:solidFill>
            <a:schemeClr val="accent1"/>
          </a:solidFill>
          <a:ln w="12700">
            <a:solidFill>
              <a:schemeClr val="accent1"/>
            </a:solidFill>
            <a:prstDash val="solid"/>
          </a:ln>
        </p:spPr>
      </p:sp>
      <p:pic>
        <p:nvPicPr>
          <p:cNvPr id="11" name="Extra icon 2" descr="preencoded.png">    </p:cNvPr>
          <p:cNvPicPr>
            <a:picLocks noChangeAspect="1"/>
          </p:cNvPicPr>
          <p:nvPr/>
        </p:nvPicPr>
        <p:blipFill>
          <a:blip r:embed="rId2"/>
          <a:stretch>
            <a:fillRect/>
          </a:stretch>
        </p:blipFill>
        <p:spPr>
          <a:xfrm>
            <a:off x="6217920" y="2834640"/>
            <a:ext cx="228600" cy="228600"/>
          </a:xfrm>
          <a:prstGeom prst="rect">
            <a:avLst/>
          </a:prstGeom>
        </p:spPr>
      </p:pic>
      <p:sp>
        <p:nvSpPr>
          <p:cNvPr id="12" name="Extra text 2"/>
          <p:cNvSpPr txBox="1"/>
          <p:nvPr/>
        </p:nvSpPr>
        <p:spPr>
          <a:xfrm>
            <a:off x="6675120" y="2560320"/>
            <a:ext cx="1920240" cy="777240"/>
          </a:xfrm>
          <a:prstGeom prst="rect">
            <a:avLst/>
          </a:prstGeom>
          <a:noFill/>
          <a:ln/>
        </p:spPr>
        <p:txBody>
          <a:bodyPr wrap="square" lIns="0" tIns="0" rIns="0" bIns="0" rtlCol="0" anchor="ctr"/>
          <a:lstStyle/>
          <a:p>
            <a:pPr indent="0" marL="0">
              <a:buNone/>
            </a:pPr>
            <a:r>
              <a:rPr lang="en-US" sz="1300" dirty="0">
                <a:solidFill>
                  <a:schemeClr val="tx1"/>
                </a:solidFill>
              </a:rPr>
              <a:t>Each fund buys on its own first day with a price</a:t>
            </a:r>
            <a:endParaRPr lang="en-US" sz="1300" dirty="0"/>
          </a:p>
        </p:txBody>
      </p:sp>
      <p:sp>
        <p:nvSpPr>
          <p:cNvPr id="13" name="Extra card 3"/>
          <p:cNvSpPr/>
          <p:nvPr/>
        </p:nvSpPr>
        <p:spPr>
          <a:xfrm>
            <a:off x="5989320" y="3474720"/>
            <a:ext cx="2697480" cy="777240"/>
          </a:xfrm>
          <a:prstGeom prst="roundRect">
            <a:avLst>
              <a:gd name="adj" fmla="val 9412"/>
            </a:avLst>
          </a:prstGeom>
          <a:solidFill>
            <a:schemeClr val="bg2"/>
          </a:solidFill>
          <a:ln w="12700">
            <a:solidFill>
              <a:schemeClr val="bg2"/>
            </a:solidFill>
            <a:prstDash val="solid"/>
          </a:ln>
        </p:spPr>
      </p:sp>
      <p:sp>
        <p:nvSpPr>
          <p:cNvPr id="14" name="Extra circle 3"/>
          <p:cNvSpPr/>
          <p:nvPr/>
        </p:nvSpPr>
        <p:spPr>
          <a:xfrm>
            <a:off x="6126480" y="3657600"/>
            <a:ext cx="411480" cy="411480"/>
          </a:xfrm>
          <a:prstGeom prst="ellipse">
            <a:avLst/>
          </a:prstGeom>
          <a:solidFill>
            <a:schemeClr val="accent1"/>
          </a:solidFill>
          <a:ln w="12700">
            <a:solidFill>
              <a:schemeClr val="accent1"/>
            </a:solidFill>
            <a:prstDash val="solid"/>
          </a:ln>
        </p:spPr>
      </p:sp>
      <p:pic>
        <p:nvPicPr>
          <p:cNvPr id="15" name="Extra icon 3" descr="preencoded.png">    </p:cNvPr>
          <p:cNvPicPr>
            <a:picLocks noChangeAspect="1"/>
          </p:cNvPicPr>
          <p:nvPr/>
        </p:nvPicPr>
        <p:blipFill>
          <a:blip r:embed="rId3"/>
          <a:stretch>
            <a:fillRect/>
          </a:stretch>
        </p:blipFill>
        <p:spPr>
          <a:xfrm>
            <a:off x="6217920" y="3749040"/>
            <a:ext cx="228600" cy="228600"/>
          </a:xfrm>
          <a:prstGeom prst="rect">
            <a:avLst/>
          </a:prstGeom>
        </p:spPr>
      </p:pic>
      <p:sp>
        <p:nvSpPr>
          <p:cNvPr id="16" name="Extra text 3"/>
          <p:cNvSpPr txBox="1"/>
          <p:nvPr/>
        </p:nvSpPr>
        <p:spPr>
          <a:xfrm>
            <a:off x="6675120" y="3474720"/>
            <a:ext cx="1920240" cy="777240"/>
          </a:xfrm>
          <a:prstGeom prst="rect">
            <a:avLst/>
          </a:prstGeom>
          <a:noFill/>
          <a:ln/>
        </p:spPr>
        <p:txBody>
          <a:bodyPr wrap="square" lIns="0" tIns="0" rIns="0" bIns="0" rtlCol="0" anchor="ctr"/>
          <a:lstStyle/>
          <a:p>
            <a:pPr indent="0" marL="0">
              <a:buNone/>
            </a:pPr>
            <a:r>
              <a:rPr lang="en-US" sz="1300" dirty="0">
                <a:solidFill>
                  <a:schemeClr val="tx1"/>
                </a:solidFill>
              </a:rPr>
              <a:t>Lowercase currency codes, impossible birth dates</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Ignore the two systems and the numbers break</a:t>
            </a:r>
            <a:endParaRPr lang="en-US" sz="3000" dirty="0"/>
          </a:p>
        </p:txBody>
      </p:sp>
      <p:graphicFrame>
        <p:nvGraphicFramePr>
          <p:cNvPr id="3" name="Errors per system era" descr=""/>
          <p:cNvGraphicFramePr/>
          <p:nvPr/>
        </p:nvGraphicFramePr>
        <p:xfrm>
          <a:off x="457200" y="1097280"/>
          <a:ext cx="5669280" cy="3429000"/>
        </p:xfrm>
        <a:graphic xmlns:a="http://schemas.openxmlformats.org/drawingml/2006/main">
          <a:graphicData uri="http://schemas.openxmlformats.org/drawingml/2006/chart">
            <c:chart xmlns:c="http://schemas.openxmlformats.org/drawingml/2006/chart" r:id="rId1"/>
          </a:graphicData>
        </a:graphic>
      </p:graphicFrame>
      <p:sp>
        <p:nvSpPr>
          <p:cNvPr id="4" name="Era value 1"/>
          <p:cNvSpPr txBox="1"/>
          <p:nvPr/>
        </p:nvSpPr>
        <p:spPr>
          <a:xfrm>
            <a:off x="6400800" y="1143000"/>
            <a:ext cx="2286000" cy="50292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100 %</a:t>
            </a:r>
            <a:endParaRPr lang="en-US" sz="3000" dirty="0"/>
          </a:p>
        </p:txBody>
      </p:sp>
      <p:sp>
        <p:nvSpPr>
          <p:cNvPr id="5" name="Era label 1"/>
          <p:cNvSpPr txBox="1"/>
          <p:nvPr/>
        </p:nvSpPr>
        <p:spPr>
          <a:xfrm>
            <a:off x="6400800" y="1645920"/>
            <a:ext cx="2286000" cy="548640"/>
          </a:xfrm>
          <a:prstGeom prst="rect">
            <a:avLst/>
          </a:prstGeom>
          <a:noFill/>
          <a:ln/>
        </p:spPr>
        <p:txBody>
          <a:bodyPr wrap="square" lIns="0" tIns="0" rIns="0" bIns="0" rtlCol="0" anchor="t"/>
          <a:lstStyle/>
          <a:p>
            <a:pPr indent="0" marL="0">
              <a:buNone/>
            </a:pPr>
            <a:r>
              <a:rPr lang="en-US" sz="1300" dirty="0">
                <a:solidFill>
                  <a:schemeClr val="tx2"/>
                </a:solidFill>
              </a:rPr>
              <a:t>of the offers of the COBOL era are wrong with the Neuron NG rules alone</a:t>
            </a:r>
            <a:endParaRPr lang="en-US" sz="1300" dirty="0"/>
          </a:p>
        </p:txBody>
      </p:sp>
      <p:sp>
        <p:nvSpPr>
          <p:cNvPr id="6" name="Era value 2"/>
          <p:cNvSpPr txBox="1"/>
          <p:nvPr/>
        </p:nvSpPr>
        <p:spPr>
          <a:xfrm>
            <a:off x="6400800" y="2286000"/>
            <a:ext cx="2286000" cy="50292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17 %</a:t>
            </a:r>
            <a:endParaRPr lang="en-US" sz="3000" dirty="0"/>
          </a:p>
        </p:txBody>
      </p:sp>
      <p:sp>
        <p:nvSpPr>
          <p:cNvPr id="7" name="Era label 2"/>
          <p:cNvSpPr txBox="1"/>
          <p:nvPr/>
        </p:nvSpPr>
        <p:spPr>
          <a:xfrm>
            <a:off x="6400800" y="2788920"/>
            <a:ext cx="2286000" cy="548640"/>
          </a:xfrm>
          <a:prstGeom prst="rect">
            <a:avLst/>
          </a:prstGeom>
          <a:noFill/>
          <a:ln/>
        </p:spPr>
        <p:txBody>
          <a:bodyPr wrap="square" lIns="0" tIns="0" rIns="0" bIns="0" rtlCol="0" anchor="t"/>
          <a:lstStyle/>
          <a:p>
            <a:pPr indent="0" marL="0">
              <a:buNone/>
            </a:pPr>
            <a:r>
              <a:rPr lang="en-US" sz="1300" dirty="0">
                <a:solidFill>
                  <a:schemeClr val="tx2"/>
                </a:solidFill>
              </a:rPr>
              <a:t>of the 2025 statements are still wrong: old errors live on in the balances</a:t>
            </a:r>
            <a:endParaRPr lang="en-US" sz="1300" dirty="0"/>
          </a:p>
        </p:txBody>
      </p:sp>
      <p:sp>
        <p:nvSpPr>
          <p:cNvPr id="8" name="Era value 3"/>
          <p:cNvSpPr txBox="1"/>
          <p:nvPr/>
        </p:nvSpPr>
        <p:spPr>
          <a:xfrm>
            <a:off x="6400800" y="3429000"/>
            <a:ext cx="2286000" cy="502920"/>
          </a:xfrm>
          <a:prstGeom prst="rect">
            <a:avLst/>
          </a:prstGeom>
          <a:noFill/>
          <a:ln/>
        </p:spPr>
        <p:txBody>
          <a:bodyPr wrap="square" lIns="0" tIns="0" rIns="0" bIns="0" rtlCol="0" anchor="ctr"/>
          <a:lstStyle/>
          <a:p>
            <a:pPr indent="0" marL="0">
              <a:buNone/>
            </a:pPr>
            <a:r>
              <a:rPr lang="en-US" sz="3000" b="1" dirty="0">
                <a:solidFill>
                  <a:schemeClr val="accent3"/>
                </a:solidFill>
                <a:latin typeface="Times New Roman" pitchFamily="34" charset="0"/>
                <a:ea typeface="Times New Roman" pitchFamily="34" charset="-122"/>
                <a:cs typeface="Times New Roman" pitchFamily="34" charset="-120"/>
              </a:rPr>
              <a:t>0 %</a:t>
            </a:r>
            <a:endParaRPr lang="en-US" sz="3000" dirty="0"/>
          </a:p>
        </p:txBody>
      </p:sp>
      <p:sp>
        <p:nvSpPr>
          <p:cNvPr id="9" name="Era label 3"/>
          <p:cNvSpPr txBox="1"/>
          <p:nvPr/>
        </p:nvSpPr>
        <p:spPr>
          <a:xfrm>
            <a:off x="6400800" y="3931920"/>
            <a:ext cx="2286000" cy="548640"/>
          </a:xfrm>
          <a:prstGeom prst="rect">
            <a:avLst/>
          </a:prstGeom>
          <a:noFill/>
          <a:ln/>
        </p:spPr>
        <p:txBody>
          <a:bodyPr wrap="square" lIns="0" tIns="0" rIns="0" bIns="0" rtlCol="0" anchor="t"/>
          <a:lstStyle/>
          <a:p>
            <a:pPr indent="0" marL="0">
              <a:buNone/>
            </a:pPr>
            <a:r>
              <a:rPr lang="en-US" sz="1300" dirty="0">
                <a:solidFill>
                  <a:schemeClr val="tx2"/>
                </a:solidFill>
              </a:rPr>
              <a:t>with our era rules, apart from the manual corrections</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Results: 88.80 % on the public leaderboard</a:t>
            </a:r>
            <a:endParaRPr lang="en-US" sz="3000" dirty="0"/>
          </a:p>
        </p:txBody>
      </p:sp>
      <p:sp>
        <p:nvSpPr>
          <p:cNvPr id="3" name="Leaderboard label"/>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PUBLIC LEADERBOARD, EXACT ROWS</a:t>
            </a:r>
            <a:endParaRPr lang="en-US" sz="1100" dirty="0"/>
          </a:p>
        </p:txBody>
      </p:sp>
      <p:sp>
        <p:nvSpPr>
          <p:cNvPr id="4" name="Task card 1"/>
          <p:cNvSpPr/>
          <p:nvPr/>
        </p:nvSpPr>
        <p:spPr>
          <a:xfrm>
            <a:off x="457200" y="1325880"/>
            <a:ext cx="1088136" cy="1051560"/>
          </a:xfrm>
          <a:prstGeom prst="roundRect">
            <a:avLst>
              <a:gd name="adj" fmla="val 6957"/>
            </a:avLst>
          </a:prstGeom>
          <a:solidFill>
            <a:schemeClr val="bg2"/>
          </a:solidFill>
          <a:ln w="12700">
            <a:solidFill>
              <a:schemeClr val="bg2"/>
            </a:solidFill>
            <a:prstDash val="solid"/>
          </a:ln>
        </p:spPr>
      </p:sp>
      <p:sp>
        <p:nvSpPr>
          <p:cNvPr id="5" name="Task name 1"/>
          <p:cNvSpPr txBox="1"/>
          <p:nvPr/>
        </p:nvSpPr>
        <p:spPr>
          <a:xfrm>
            <a:off x="548640" y="1417320"/>
            <a:ext cx="960120" cy="320040"/>
          </a:xfrm>
          <a:prstGeom prst="rect">
            <a:avLst/>
          </a:prstGeom>
          <a:noFill/>
          <a:ln/>
        </p:spPr>
        <p:txBody>
          <a:bodyPr wrap="square" lIns="0" tIns="0" rIns="0" bIns="0" rtlCol="0" anchor="ctr"/>
          <a:lstStyle/>
          <a:p>
            <a:pPr indent="0" marL="0">
              <a:buNone/>
            </a:pPr>
            <a:r>
              <a:rPr lang="en-US" sz="1100" dirty="0">
                <a:solidFill>
                  <a:schemeClr val="tx2"/>
                </a:solidFill>
              </a:rPr>
              <a:t>t0  Commission</a:t>
            </a:r>
            <a:endParaRPr lang="en-US" sz="1100" dirty="0"/>
          </a:p>
        </p:txBody>
      </p:sp>
      <p:sp>
        <p:nvSpPr>
          <p:cNvPr id="6" name="Task score 1"/>
          <p:cNvSpPr txBox="1"/>
          <p:nvPr/>
        </p:nvSpPr>
        <p:spPr>
          <a:xfrm>
            <a:off x="548640" y="1783080"/>
            <a:ext cx="960120" cy="457200"/>
          </a:xfrm>
          <a:prstGeom prst="rect">
            <a:avLst/>
          </a:prstGeom>
          <a:noFill/>
          <a:ln/>
        </p:spPr>
        <p:txBody>
          <a:bodyPr wrap="square" lIns="0" tIns="0" rIns="0" bIns="0" rtlCol="0" anchor="ctr"/>
          <a:lstStyle/>
          <a:p>
            <a:pPr indent="0" marL="0">
              <a:buNone/>
            </a:pPr>
            <a:r>
              <a:rPr lang="en-US" sz="2000" b="1" dirty="0">
                <a:solidFill>
                  <a:schemeClr val="accent3"/>
                </a:solidFill>
                <a:latin typeface="Times New Roman" pitchFamily="34" charset="0"/>
                <a:ea typeface="Times New Roman" pitchFamily="34" charset="-122"/>
                <a:cs typeface="Times New Roman" pitchFamily="34" charset="-120"/>
              </a:rPr>
              <a:t>100 %</a:t>
            </a:r>
            <a:endParaRPr lang="en-US" sz="2000" dirty="0"/>
          </a:p>
        </p:txBody>
      </p:sp>
      <p:sp>
        <p:nvSpPr>
          <p:cNvPr id="7" name="Task card 2"/>
          <p:cNvSpPr/>
          <p:nvPr/>
        </p:nvSpPr>
        <p:spPr>
          <a:xfrm>
            <a:off x="1636776" y="1325880"/>
            <a:ext cx="1088136" cy="1051560"/>
          </a:xfrm>
          <a:prstGeom prst="roundRect">
            <a:avLst>
              <a:gd name="adj" fmla="val 6957"/>
            </a:avLst>
          </a:prstGeom>
          <a:solidFill>
            <a:schemeClr val="bg2"/>
          </a:solidFill>
          <a:ln w="12700">
            <a:solidFill>
              <a:schemeClr val="bg2"/>
            </a:solidFill>
            <a:prstDash val="solid"/>
          </a:ln>
        </p:spPr>
      </p:sp>
      <p:sp>
        <p:nvSpPr>
          <p:cNvPr id="8" name="Task name 2"/>
          <p:cNvSpPr txBox="1"/>
          <p:nvPr/>
        </p:nvSpPr>
        <p:spPr>
          <a:xfrm>
            <a:off x="1728216" y="1417320"/>
            <a:ext cx="960120" cy="320040"/>
          </a:xfrm>
          <a:prstGeom prst="rect">
            <a:avLst/>
          </a:prstGeom>
          <a:noFill/>
          <a:ln/>
        </p:spPr>
        <p:txBody>
          <a:bodyPr wrap="square" lIns="0" tIns="0" rIns="0" bIns="0" rtlCol="0" anchor="ctr"/>
          <a:lstStyle/>
          <a:p>
            <a:pPr indent="0" marL="0">
              <a:buNone/>
            </a:pPr>
            <a:r>
              <a:rPr lang="en-US" sz="1100" dirty="0">
                <a:solidFill>
                  <a:schemeClr val="tx2"/>
                </a:solidFill>
              </a:rPr>
              <a:t>t1  Due dates</a:t>
            </a:r>
            <a:endParaRPr lang="en-US" sz="1100" dirty="0"/>
          </a:p>
        </p:txBody>
      </p:sp>
      <p:sp>
        <p:nvSpPr>
          <p:cNvPr id="9" name="Task score 2"/>
          <p:cNvSpPr txBox="1"/>
          <p:nvPr/>
        </p:nvSpPr>
        <p:spPr>
          <a:xfrm>
            <a:off x="1728216" y="1783080"/>
            <a:ext cx="960120" cy="457200"/>
          </a:xfrm>
          <a:prstGeom prst="rect">
            <a:avLst/>
          </a:prstGeom>
          <a:noFill/>
          <a:ln/>
        </p:spPr>
        <p:txBody>
          <a:bodyPr wrap="square" lIns="0" tIns="0" rIns="0" bIns="0" rtlCol="0" anchor="ctr"/>
          <a:lstStyle/>
          <a:p>
            <a:pPr indent="0" marL="0">
              <a:buNone/>
            </a:pPr>
            <a:r>
              <a:rPr lang="en-US" sz="2000" b="1" dirty="0">
                <a:solidFill>
                  <a:schemeClr val="accent3"/>
                </a:solidFill>
                <a:latin typeface="Times New Roman" pitchFamily="34" charset="0"/>
                <a:ea typeface="Times New Roman" pitchFamily="34" charset="-122"/>
                <a:cs typeface="Times New Roman" pitchFamily="34" charset="-120"/>
              </a:rPr>
              <a:t>100 %</a:t>
            </a:r>
            <a:endParaRPr lang="en-US" sz="2000" dirty="0"/>
          </a:p>
        </p:txBody>
      </p:sp>
      <p:sp>
        <p:nvSpPr>
          <p:cNvPr id="10" name="Task card 3"/>
          <p:cNvSpPr/>
          <p:nvPr/>
        </p:nvSpPr>
        <p:spPr>
          <a:xfrm>
            <a:off x="2816352" y="1325880"/>
            <a:ext cx="1088136" cy="1051560"/>
          </a:xfrm>
          <a:prstGeom prst="roundRect">
            <a:avLst>
              <a:gd name="adj" fmla="val 6957"/>
            </a:avLst>
          </a:prstGeom>
          <a:solidFill>
            <a:schemeClr val="bg2"/>
          </a:solidFill>
          <a:ln w="12700">
            <a:solidFill>
              <a:schemeClr val="bg2"/>
            </a:solidFill>
            <a:prstDash val="solid"/>
          </a:ln>
        </p:spPr>
      </p:sp>
      <p:sp>
        <p:nvSpPr>
          <p:cNvPr id="11" name="Task name 3"/>
          <p:cNvSpPr txBox="1"/>
          <p:nvPr/>
        </p:nvSpPr>
        <p:spPr>
          <a:xfrm>
            <a:off x="2907792" y="1417320"/>
            <a:ext cx="960120" cy="320040"/>
          </a:xfrm>
          <a:prstGeom prst="rect">
            <a:avLst/>
          </a:prstGeom>
          <a:noFill/>
          <a:ln/>
        </p:spPr>
        <p:txBody>
          <a:bodyPr wrap="square" lIns="0" tIns="0" rIns="0" bIns="0" rtlCol="0" anchor="ctr"/>
          <a:lstStyle/>
          <a:p>
            <a:pPr indent="0" marL="0">
              <a:buNone/>
            </a:pPr>
            <a:r>
              <a:rPr lang="en-US" sz="1100" dirty="0">
                <a:solidFill>
                  <a:schemeClr val="tx2"/>
                </a:solidFill>
              </a:rPr>
              <a:t>t2  Maturity</a:t>
            </a:r>
            <a:endParaRPr lang="en-US" sz="1100" dirty="0"/>
          </a:p>
        </p:txBody>
      </p:sp>
      <p:sp>
        <p:nvSpPr>
          <p:cNvPr id="12" name="Task score 3"/>
          <p:cNvSpPr txBox="1"/>
          <p:nvPr/>
        </p:nvSpPr>
        <p:spPr>
          <a:xfrm>
            <a:off x="2907792" y="1783080"/>
            <a:ext cx="960120" cy="457200"/>
          </a:xfrm>
          <a:prstGeom prst="rect">
            <a:avLst/>
          </a:prstGeom>
          <a:noFill/>
          <a:ln/>
        </p:spPr>
        <p:txBody>
          <a:bodyPr wrap="square" lIns="0" tIns="0" rIns="0" bIns="0" rtlCol="0" anchor="ctr"/>
          <a:lstStyle/>
          <a:p>
            <a:pPr indent="0" marL="0">
              <a:buNone/>
            </a:pPr>
            <a:r>
              <a:rPr lang="en-US" sz="2000" b="1" dirty="0">
                <a:solidFill>
                  <a:schemeClr val="accent3"/>
                </a:solidFill>
                <a:latin typeface="Times New Roman" pitchFamily="34" charset="0"/>
                <a:ea typeface="Times New Roman" pitchFamily="34" charset="-122"/>
                <a:cs typeface="Times New Roman" pitchFamily="34" charset="-120"/>
              </a:rPr>
              <a:t>100 %</a:t>
            </a:r>
            <a:endParaRPr lang="en-US" sz="2000" dirty="0"/>
          </a:p>
        </p:txBody>
      </p:sp>
      <p:sp>
        <p:nvSpPr>
          <p:cNvPr id="13" name="Task card 4"/>
          <p:cNvSpPr/>
          <p:nvPr/>
        </p:nvSpPr>
        <p:spPr>
          <a:xfrm>
            <a:off x="3995928" y="1325880"/>
            <a:ext cx="1088136" cy="1051560"/>
          </a:xfrm>
          <a:prstGeom prst="roundRect">
            <a:avLst>
              <a:gd name="adj" fmla="val 6957"/>
            </a:avLst>
          </a:prstGeom>
          <a:solidFill>
            <a:schemeClr val="bg2"/>
          </a:solidFill>
          <a:ln w="12700">
            <a:solidFill>
              <a:schemeClr val="bg2"/>
            </a:solidFill>
            <a:prstDash val="solid"/>
          </a:ln>
        </p:spPr>
      </p:sp>
      <p:sp>
        <p:nvSpPr>
          <p:cNvPr id="14" name="Task name 4"/>
          <p:cNvSpPr txBox="1"/>
          <p:nvPr/>
        </p:nvSpPr>
        <p:spPr>
          <a:xfrm>
            <a:off x="4087368" y="1417320"/>
            <a:ext cx="960120" cy="320040"/>
          </a:xfrm>
          <a:prstGeom prst="rect">
            <a:avLst/>
          </a:prstGeom>
          <a:noFill/>
          <a:ln/>
        </p:spPr>
        <p:txBody>
          <a:bodyPr wrap="square" lIns="0" tIns="0" rIns="0" bIns="0" rtlCol="0" anchor="ctr"/>
          <a:lstStyle/>
          <a:p>
            <a:pPr indent="0" marL="0">
              <a:buNone/>
            </a:pPr>
            <a:r>
              <a:rPr lang="en-US" sz="1100" dirty="0">
                <a:solidFill>
                  <a:schemeClr val="tx2"/>
                </a:solidFill>
              </a:rPr>
              <a:t>t3  Surrender</a:t>
            </a:r>
            <a:endParaRPr lang="en-US" sz="1100" dirty="0"/>
          </a:p>
        </p:txBody>
      </p:sp>
      <p:sp>
        <p:nvSpPr>
          <p:cNvPr id="15" name="Task score 4"/>
          <p:cNvSpPr txBox="1"/>
          <p:nvPr/>
        </p:nvSpPr>
        <p:spPr>
          <a:xfrm>
            <a:off x="4087368" y="1783080"/>
            <a:ext cx="960120" cy="457200"/>
          </a:xfrm>
          <a:prstGeom prst="rect">
            <a:avLst/>
          </a:prstGeom>
          <a:noFill/>
          <a:ln/>
        </p:spPr>
        <p:txBody>
          <a:bodyPr wrap="square" lIns="0" tIns="0" rIns="0" bIns="0" rtlCol="0" anchor="ctr"/>
          <a:lstStyle/>
          <a:p>
            <a:pPr indent="0" marL="0">
              <a:buNone/>
            </a:pPr>
            <a:r>
              <a:rPr lang="en-US" sz="2000" b="1" dirty="0">
                <a:solidFill>
                  <a:schemeClr val="accent3"/>
                </a:solidFill>
                <a:latin typeface="Times New Roman" pitchFamily="34" charset="0"/>
                <a:ea typeface="Times New Roman" pitchFamily="34" charset="-122"/>
                <a:cs typeface="Times New Roman" pitchFamily="34" charset="-120"/>
              </a:rPr>
              <a:t>99.93 %</a:t>
            </a:r>
            <a:endParaRPr lang="en-US" sz="2000" dirty="0"/>
          </a:p>
        </p:txBody>
      </p:sp>
      <p:sp>
        <p:nvSpPr>
          <p:cNvPr id="16" name="Task card 5"/>
          <p:cNvSpPr/>
          <p:nvPr/>
        </p:nvSpPr>
        <p:spPr>
          <a:xfrm>
            <a:off x="5175504" y="1325880"/>
            <a:ext cx="1088136" cy="1051560"/>
          </a:xfrm>
          <a:prstGeom prst="roundRect">
            <a:avLst>
              <a:gd name="adj" fmla="val 6957"/>
            </a:avLst>
          </a:prstGeom>
          <a:solidFill>
            <a:schemeClr val="bg2"/>
          </a:solidFill>
          <a:ln w="12700">
            <a:solidFill>
              <a:schemeClr val="bg2"/>
            </a:solidFill>
            <a:prstDash val="solid"/>
          </a:ln>
        </p:spPr>
      </p:sp>
      <p:sp>
        <p:nvSpPr>
          <p:cNvPr id="17" name="Task name 5"/>
          <p:cNvSpPr txBox="1"/>
          <p:nvPr/>
        </p:nvSpPr>
        <p:spPr>
          <a:xfrm>
            <a:off x="5266944" y="1417320"/>
            <a:ext cx="960120" cy="320040"/>
          </a:xfrm>
          <a:prstGeom prst="rect">
            <a:avLst/>
          </a:prstGeom>
          <a:noFill/>
          <a:ln/>
        </p:spPr>
        <p:txBody>
          <a:bodyPr wrap="square" lIns="0" tIns="0" rIns="0" bIns="0" rtlCol="0" anchor="ctr"/>
          <a:lstStyle/>
          <a:p>
            <a:pPr indent="0" marL="0">
              <a:buNone/>
            </a:pPr>
            <a:r>
              <a:rPr lang="en-US" sz="1100" dirty="0">
                <a:solidFill>
                  <a:schemeClr val="tx2"/>
                </a:solidFill>
              </a:rPr>
              <a:t>t4  Statement</a:t>
            </a:r>
            <a:endParaRPr lang="en-US" sz="1100" dirty="0"/>
          </a:p>
        </p:txBody>
      </p:sp>
      <p:sp>
        <p:nvSpPr>
          <p:cNvPr id="18" name="Task score 5"/>
          <p:cNvSpPr txBox="1"/>
          <p:nvPr/>
        </p:nvSpPr>
        <p:spPr>
          <a:xfrm>
            <a:off x="5266944" y="1783080"/>
            <a:ext cx="960120" cy="457200"/>
          </a:xfrm>
          <a:prstGeom prst="rect">
            <a:avLst/>
          </a:prstGeom>
          <a:noFill/>
          <a:ln/>
        </p:spPr>
        <p:txBody>
          <a:bodyPr wrap="square" lIns="0" tIns="0" rIns="0" bIns="0" rtlCol="0" anchor="ctr"/>
          <a:lstStyle/>
          <a:p>
            <a:pPr indent="0" marL="0">
              <a:buNone/>
            </a:pPr>
            <a:r>
              <a:rPr lang="en-US" sz="2000" b="1" dirty="0">
                <a:solidFill>
                  <a:schemeClr val="accent3"/>
                </a:solidFill>
                <a:latin typeface="Times New Roman" pitchFamily="34" charset="0"/>
                <a:ea typeface="Times New Roman" pitchFamily="34" charset="-122"/>
                <a:cs typeface="Times New Roman" pitchFamily="34" charset="-120"/>
              </a:rPr>
              <a:t>99.99 %</a:t>
            </a:r>
            <a:endParaRPr lang="en-US" sz="2000" dirty="0"/>
          </a:p>
        </p:txBody>
      </p:sp>
      <p:sp>
        <p:nvSpPr>
          <p:cNvPr id="19" name="Task card 6"/>
          <p:cNvSpPr/>
          <p:nvPr/>
        </p:nvSpPr>
        <p:spPr>
          <a:xfrm>
            <a:off x="6355080" y="1325880"/>
            <a:ext cx="1088136" cy="1051560"/>
          </a:xfrm>
          <a:prstGeom prst="roundRect">
            <a:avLst>
              <a:gd name="adj" fmla="val 6957"/>
            </a:avLst>
          </a:prstGeom>
          <a:solidFill>
            <a:srgbClr val="FBE9E7"/>
          </a:solidFill>
          <a:ln w="12700">
            <a:solidFill>
              <a:srgbClr val="FBE9E7"/>
            </a:solidFill>
            <a:prstDash val="solid"/>
          </a:ln>
        </p:spPr>
      </p:sp>
      <p:sp>
        <p:nvSpPr>
          <p:cNvPr id="20" name="Task name 6"/>
          <p:cNvSpPr txBox="1"/>
          <p:nvPr/>
        </p:nvSpPr>
        <p:spPr>
          <a:xfrm>
            <a:off x="6446520" y="1417320"/>
            <a:ext cx="960120" cy="320040"/>
          </a:xfrm>
          <a:prstGeom prst="rect">
            <a:avLst/>
          </a:prstGeom>
          <a:noFill/>
          <a:ln/>
        </p:spPr>
        <p:txBody>
          <a:bodyPr wrap="square" lIns="0" tIns="0" rIns="0" bIns="0" rtlCol="0" anchor="ctr"/>
          <a:lstStyle/>
          <a:p>
            <a:pPr indent="0" marL="0">
              <a:buNone/>
            </a:pPr>
            <a:r>
              <a:rPr lang="en-US" sz="1100" dirty="0">
                <a:solidFill>
                  <a:schemeClr val="tx2"/>
                </a:solidFill>
              </a:rPr>
              <a:t>t7  Tax annual</a:t>
            </a:r>
            <a:endParaRPr lang="en-US" sz="1100" dirty="0"/>
          </a:p>
        </p:txBody>
      </p:sp>
      <p:sp>
        <p:nvSpPr>
          <p:cNvPr id="21" name="Task score 6"/>
          <p:cNvSpPr txBox="1"/>
          <p:nvPr/>
        </p:nvSpPr>
        <p:spPr>
          <a:xfrm>
            <a:off x="6446520" y="1783080"/>
            <a:ext cx="960120" cy="457200"/>
          </a:xfrm>
          <a:prstGeom prst="rect">
            <a:avLst/>
          </a:prstGeom>
          <a:noFill/>
          <a:ln/>
        </p:spPr>
        <p:txBody>
          <a:bodyPr wrap="square" lIns="0" tIns="0" rIns="0" bIns="0" rtlCol="0" anchor="ctr"/>
          <a:lstStyle/>
          <a:p>
            <a:pPr indent="0" marL="0">
              <a:buNone/>
            </a:pPr>
            <a:r>
              <a:rPr lang="en-US" sz="2000" b="1" dirty="0">
                <a:solidFill>
                  <a:schemeClr val="accent1"/>
                </a:solidFill>
                <a:latin typeface="Times New Roman" pitchFamily="34" charset="0"/>
                <a:ea typeface="Times New Roman" pitchFamily="34" charset="-122"/>
                <a:cs typeface="Times New Roman" pitchFamily="34" charset="-120"/>
              </a:rPr>
              <a:t>29 / 30</a:t>
            </a:r>
            <a:endParaRPr lang="en-US" sz="2000" dirty="0"/>
          </a:p>
        </p:txBody>
      </p:sp>
      <p:sp>
        <p:nvSpPr>
          <p:cNvPr id="22" name="Task card 7"/>
          <p:cNvSpPr/>
          <p:nvPr/>
        </p:nvSpPr>
        <p:spPr>
          <a:xfrm>
            <a:off x="7534656" y="1325880"/>
            <a:ext cx="1088136" cy="1051560"/>
          </a:xfrm>
          <a:prstGeom prst="roundRect">
            <a:avLst>
              <a:gd name="adj" fmla="val 6957"/>
            </a:avLst>
          </a:prstGeom>
          <a:solidFill>
            <a:srgbClr val="FBE9E7"/>
          </a:solidFill>
          <a:ln w="12700">
            <a:solidFill>
              <a:srgbClr val="FBE9E7"/>
            </a:solidFill>
            <a:prstDash val="solid"/>
          </a:ln>
        </p:spPr>
      </p:sp>
      <p:sp>
        <p:nvSpPr>
          <p:cNvPr id="23" name="Task name 7"/>
          <p:cNvSpPr txBox="1"/>
          <p:nvPr/>
        </p:nvSpPr>
        <p:spPr>
          <a:xfrm>
            <a:off x="7626096" y="1417320"/>
            <a:ext cx="960120" cy="320040"/>
          </a:xfrm>
          <a:prstGeom prst="rect">
            <a:avLst/>
          </a:prstGeom>
          <a:noFill/>
          <a:ln/>
        </p:spPr>
        <p:txBody>
          <a:bodyPr wrap="square" lIns="0" tIns="0" rIns="0" bIns="0" rtlCol="0" anchor="ctr"/>
          <a:lstStyle/>
          <a:p>
            <a:pPr indent="0" marL="0">
              <a:buNone/>
            </a:pPr>
            <a:r>
              <a:rPr lang="en-US" sz="1100" dirty="0">
                <a:solidFill>
                  <a:schemeClr val="tx2"/>
                </a:solidFill>
              </a:rPr>
              <a:t>t7  Tax payout</a:t>
            </a:r>
            <a:endParaRPr lang="en-US" sz="1100" dirty="0"/>
          </a:p>
        </p:txBody>
      </p:sp>
      <p:sp>
        <p:nvSpPr>
          <p:cNvPr id="24" name="Task score 7"/>
          <p:cNvSpPr txBox="1"/>
          <p:nvPr/>
        </p:nvSpPr>
        <p:spPr>
          <a:xfrm>
            <a:off x="7626096" y="1783080"/>
            <a:ext cx="960120" cy="457200"/>
          </a:xfrm>
          <a:prstGeom prst="rect">
            <a:avLst/>
          </a:prstGeom>
          <a:noFill/>
          <a:ln/>
        </p:spPr>
        <p:txBody>
          <a:bodyPr wrap="square" lIns="0" tIns="0" rIns="0" bIns="0" rtlCol="0" anchor="ctr"/>
          <a:lstStyle/>
          <a:p>
            <a:pPr indent="0" marL="0">
              <a:buNone/>
            </a:pPr>
            <a:r>
              <a:rPr lang="en-US" sz="2000" b="1" dirty="0">
                <a:solidFill>
                  <a:schemeClr val="accent1"/>
                </a:solidFill>
                <a:latin typeface="Times New Roman" pitchFamily="34" charset="0"/>
                <a:ea typeface="Times New Roman" pitchFamily="34" charset="-122"/>
                <a:cs typeface="Times New Roman" pitchFamily="34" charset="-120"/>
              </a:rPr>
              <a:t>10 / 40</a:t>
            </a:r>
            <a:endParaRPr lang="en-US" sz="2000" dirty="0"/>
          </a:p>
        </p:txBody>
      </p:sp>
      <p:sp>
        <p:nvSpPr>
          <p:cNvPr id="25" name="Callout value 1"/>
          <p:cNvSpPr txBox="1"/>
          <p:nvPr/>
        </p:nvSpPr>
        <p:spPr>
          <a:xfrm>
            <a:off x="457200" y="2606040"/>
            <a:ext cx="2651760" cy="731520"/>
          </a:xfrm>
          <a:prstGeom prst="rect">
            <a:avLst/>
          </a:prstGeom>
          <a:noFill/>
          <a:ln/>
        </p:spPr>
        <p:txBody>
          <a:bodyPr wrap="square" lIns="0" tIns="0" rIns="0" bIns="0" rtlCol="0" anchor="ctr"/>
          <a:lstStyle/>
          <a:p>
            <a:pPr indent="0" marL="0">
              <a:buNone/>
            </a:pPr>
            <a:r>
              <a:rPr lang="en-US" sz="3800" b="1" dirty="0">
                <a:solidFill>
                  <a:schemeClr val="accent1"/>
                </a:solidFill>
                <a:latin typeface="Times New Roman" pitchFamily="34" charset="0"/>
                <a:ea typeface="Times New Roman" pitchFamily="34" charset="-122"/>
                <a:cs typeface="Times New Roman" pitchFamily="34" charset="-120"/>
              </a:rPr>
              <a:t>88.80 %</a:t>
            </a:r>
            <a:endParaRPr lang="en-US" sz="3800" dirty="0"/>
          </a:p>
        </p:txBody>
      </p:sp>
      <p:sp>
        <p:nvSpPr>
          <p:cNvPr id="26" name="Callout label 1"/>
          <p:cNvSpPr txBox="1"/>
          <p:nvPr/>
        </p:nvSpPr>
        <p:spPr>
          <a:xfrm>
            <a:off x="457200" y="3337560"/>
            <a:ext cx="2560320" cy="685800"/>
          </a:xfrm>
          <a:prstGeom prst="rect">
            <a:avLst/>
          </a:prstGeom>
          <a:noFill/>
          <a:ln/>
        </p:spPr>
        <p:txBody>
          <a:bodyPr wrap="square" lIns="0" tIns="0" rIns="0" bIns="0" rtlCol="0" anchor="t"/>
          <a:lstStyle/>
          <a:p>
            <a:pPr indent="0" marL="0">
              <a:buNone/>
            </a:pPr>
            <a:r>
              <a:rPr lang="en-US" sz="1300" dirty="0">
                <a:solidFill>
                  <a:schemeClr val="tx2"/>
                </a:solidFill>
              </a:rPr>
              <a:t>average of the seven scores, up from 77.01 % before the t7 rules</a:t>
            </a:r>
            <a:endParaRPr lang="en-US" sz="1300" dirty="0"/>
          </a:p>
        </p:txBody>
      </p:sp>
      <p:sp>
        <p:nvSpPr>
          <p:cNvPr id="27" name="Callout value 2"/>
          <p:cNvSpPr txBox="1"/>
          <p:nvPr/>
        </p:nvSpPr>
        <p:spPr>
          <a:xfrm>
            <a:off x="3246120" y="2606040"/>
            <a:ext cx="2651760" cy="731520"/>
          </a:xfrm>
          <a:prstGeom prst="rect">
            <a:avLst/>
          </a:prstGeom>
          <a:noFill/>
          <a:ln/>
        </p:spPr>
        <p:txBody>
          <a:bodyPr wrap="square" lIns="0" tIns="0" rIns="0" bIns="0" rtlCol="0" anchor="ctr"/>
          <a:lstStyle/>
          <a:p>
            <a:pPr indent="0" marL="0">
              <a:buNone/>
            </a:pPr>
            <a:r>
              <a:rPr lang="en-US" sz="3800" b="1" dirty="0">
                <a:solidFill>
                  <a:schemeClr val="tx1"/>
                </a:solidFill>
                <a:latin typeface="Times New Roman" pitchFamily="34" charset="0"/>
                <a:ea typeface="Times New Roman" pitchFamily="34" charset="-122"/>
                <a:cs typeface="Times New Roman" pitchFamily="34" charset="-120"/>
              </a:rPr>
              <a:t>11 → 29</a:t>
            </a:r>
            <a:endParaRPr lang="en-US" sz="3800" dirty="0"/>
          </a:p>
        </p:txBody>
      </p:sp>
      <p:sp>
        <p:nvSpPr>
          <p:cNvPr id="28" name="Callout label 2"/>
          <p:cNvSpPr txBox="1"/>
          <p:nvPr/>
        </p:nvSpPr>
        <p:spPr>
          <a:xfrm>
            <a:off x="3246120" y="3337560"/>
            <a:ext cx="2560320" cy="685800"/>
          </a:xfrm>
          <a:prstGeom prst="rect">
            <a:avLst/>
          </a:prstGeom>
          <a:noFill/>
          <a:ln/>
        </p:spPr>
        <p:txBody>
          <a:bodyPr wrap="square" lIns="0" tIns="0" rIns="0" bIns="0" rtlCol="0" anchor="t"/>
          <a:lstStyle/>
          <a:p>
            <a:pPr indent="0" marL="0">
              <a:buNone/>
            </a:pPr>
            <a:r>
              <a:rPr lang="en-US" sz="1300" dirty="0">
                <a:solidFill>
                  <a:schemeClr val="tx2"/>
                </a:solidFill>
              </a:rPr>
              <a:t>of 30 t7 annual rows after fitting one rule per mismatch</a:t>
            </a:r>
            <a:endParaRPr lang="en-US" sz="1300" dirty="0"/>
          </a:p>
        </p:txBody>
      </p:sp>
      <p:sp>
        <p:nvSpPr>
          <p:cNvPr id="29" name="Callout value 3"/>
          <p:cNvSpPr txBox="1"/>
          <p:nvPr/>
        </p:nvSpPr>
        <p:spPr>
          <a:xfrm>
            <a:off x="6035040" y="2606040"/>
            <a:ext cx="2651760" cy="731520"/>
          </a:xfrm>
          <a:prstGeom prst="rect">
            <a:avLst/>
          </a:prstGeom>
          <a:noFill/>
          <a:ln/>
        </p:spPr>
        <p:txBody>
          <a:bodyPr wrap="square" lIns="0" tIns="0" rIns="0" bIns="0" rtlCol="0" anchor="ctr"/>
          <a:lstStyle/>
          <a:p>
            <a:pPr indent="0" marL="0">
              <a:buNone/>
            </a:pPr>
            <a:r>
              <a:rPr lang="en-US" sz="3800" b="1" dirty="0">
                <a:solidFill>
                  <a:schemeClr val="tx1"/>
                </a:solidFill>
                <a:latin typeface="Times New Roman" pitchFamily="34" charset="0"/>
                <a:ea typeface="Times New Roman" pitchFamily="34" charset="-122"/>
                <a:cs typeface="Times New Roman" pitchFamily="34" charset="-120"/>
              </a:rPr>
              <a:t>55</a:t>
            </a:r>
            <a:endParaRPr lang="en-US" sz="3800" dirty="0"/>
          </a:p>
        </p:txBody>
      </p:sp>
      <p:sp>
        <p:nvSpPr>
          <p:cNvPr id="30" name="Callout label 3"/>
          <p:cNvSpPr txBox="1"/>
          <p:nvPr/>
        </p:nvSpPr>
        <p:spPr>
          <a:xfrm>
            <a:off x="6035040" y="3337560"/>
            <a:ext cx="2560320" cy="685800"/>
          </a:xfrm>
          <a:prstGeom prst="rect">
            <a:avLst/>
          </a:prstGeom>
          <a:noFill/>
          <a:ln/>
        </p:spPr>
        <p:txBody>
          <a:bodyPr wrap="square" lIns="0" tIns="0" rIns="0" bIns="0" rtlCol="0" anchor="t"/>
          <a:lstStyle/>
          <a:p>
            <a:pPr indent="0" marL="0">
              <a:buNone/>
            </a:pPr>
            <a:r>
              <a:rPr lang="en-US" sz="1300" dirty="0">
                <a:solidFill>
                  <a:schemeClr val="tx2"/>
                </a:solidFill>
              </a:rPr>
              <a:t>hand-edited values found automatically (t5): all 38 listed and 17 new</a:t>
            </a:r>
            <a:endParaRPr lang="en-US" sz="1300" dirty="0"/>
          </a:p>
        </p:txBody>
      </p:sp>
      <p:sp>
        <p:nvSpPr>
          <p:cNvPr id="31" name="Results caption"/>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1100" dirty="0">
                <a:solidFill>
                  <a:schemeClr val="accent4"/>
                </a:solidFill>
              </a:rPr>
              <a:t>3 of 7 tasks perfect  ·  every remaining t0–t4 miss is a manual correction  ·  5,024,847 fund bookings recalculated  ·  t0–t5 run in 45 s</a:t>
            </a:r>
            <a:endParaRPr lang="en-US" sz="11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Surprise t7: from guesses to exact rules</a:t>
            </a:r>
            <a:endParaRPr lang="en-US" sz="3000" dirty="0"/>
          </a:p>
        </p:txBody>
      </p:sp>
      <p:sp>
        <p:nvSpPr>
          <p:cNvPr id="3" name="t7 step card 1"/>
          <p:cNvSpPr/>
          <p:nvPr/>
        </p:nvSpPr>
        <p:spPr>
          <a:xfrm>
            <a:off x="457200" y="1097280"/>
            <a:ext cx="1965960" cy="2743200"/>
          </a:xfrm>
          <a:prstGeom prst="roundRect">
            <a:avLst>
              <a:gd name="adj" fmla="val 3721"/>
            </a:avLst>
          </a:prstGeom>
          <a:solidFill>
            <a:schemeClr val="bg2"/>
          </a:solidFill>
          <a:ln w="12700">
            <a:solidFill>
              <a:schemeClr val="bg2"/>
            </a:solidFill>
            <a:prstDash val="solid"/>
          </a:ln>
        </p:spPr>
      </p:sp>
      <p:sp>
        <p:nvSpPr>
          <p:cNvPr id="4" name="t7 step circle 1"/>
          <p:cNvSpPr/>
          <p:nvPr/>
        </p:nvSpPr>
        <p:spPr>
          <a:xfrm>
            <a:off x="640080" y="1280160"/>
            <a:ext cx="548640" cy="548640"/>
          </a:xfrm>
          <a:prstGeom prst="ellipse">
            <a:avLst/>
          </a:prstGeom>
          <a:solidFill>
            <a:schemeClr val="accent1"/>
          </a:solidFill>
          <a:ln w="12700">
            <a:solidFill>
              <a:schemeClr val="accent1"/>
            </a:solidFill>
            <a:prstDash val="solid"/>
          </a:ln>
        </p:spPr>
      </p:sp>
      <p:pic>
        <p:nvPicPr>
          <p:cNvPr id="5" name="t7 step icon 1" descr="1  Weak labels">    </p:cNvPr>
          <p:cNvPicPr>
            <a:picLocks noChangeAspect="1"/>
          </p:cNvPicPr>
          <p:nvPr/>
        </p:nvPicPr>
        <p:blipFill>
          <a:blip r:embed="rId1"/>
          <a:stretch>
            <a:fillRect/>
          </a:stretch>
        </p:blipFill>
        <p:spPr>
          <a:xfrm>
            <a:off x="777240" y="1417320"/>
            <a:ext cx="274320" cy="274320"/>
          </a:xfrm>
          <a:prstGeom prst="rect">
            <a:avLst/>
          </a:prstGeom>
        </p:spPr>
      </p:pic>
      <p:sp>
        <p:nvSpPr>
          <p:cNvPr id="6" name="t7 step name 1"/>
          <p:cNvSpPr txBox="1"/>
          <p:nvPr/>
        </p:nvSpPr>
        <p:spPr>
          <a:xfrm>
            <a:off x="640080" y="1965960"/>
            <a:ext cx="1645920" cy="548640"/>
          </a:xfrm>
          <a:prstGeom prst="rect">
            <a:avLst/>
          </a:prstGeom>
          <a:noFill/>
          <a:ln/>
        </p:spPr>
        <p:txBody>
          <a:bodyPr wrap="square" lIns="0" tIns="0" rIns="0" bIns="0" rtlCol="0" anchor="t"/>
          <a:lstStyle/>
          <a:p>
            <a:pPr indent="0" marL="0">
              <a:buNone/>
            </a:pPr>
            <a:r>
              <a:rPr lang="en-US" sz="1500" b="1" dirty="0">
                <a:solidFill>
                  <a:schemeClr val="tx1"/>
                </a:solidFill>
              </a:rPr>
              <a:t>1  Weak labels</a:t>
            </a:r>
            <a:endParaRPr lang="en-US" sz="1500" dirty="0"/>
          </a:p>
        </p:txBody>
      </p:sp>
      <p:sp>
        <p:nvSpPr>
          <p:cNvPr id="7" name="t7 step text 1"/>
          <p:cNvSpPr txBox="1"/>
          <p:nvPr/>
        </p:nvSpPr>
        <p:spPr>
          <a:xfrm>
            <a:off x="640080" y="2560320"/>
            <a:ext cx="1645920" cy="1188720"/>
          </a:xfrm>
          <a:prstGeom prst="rect">
            <a:avLst/>
          </a:prstGeom>
          <a:noFill/>
          <a:ln/>
        </p:spPr>
        <p:txBody>
          <a:bodyPr wrap="square" lIns="0" tIns="0" rIns="0" bIns="0" rtlCol="0" anchor="t"/>
          <a:lstStyle/>
          <a:p>
            <a:pPr indent="0" marL="0">
              <a:buNone/>
            </a:pPr>
            <a:r>
              <a:rPr lang="en-US" sz="1200" dirty="0">
                <a:solidFill>
                  <a:schemeClr val="tx2"/>
                </a:solidFill>
              </a:rPr>
              <a:t>Neuron's tax bookings say which tax it charged: the gates match 498 of 498 countries</a:t>
            </a:r>
            <a:endParaRPr lang="en-US" sz="1200" dirty="0"/>
          </a:p>
        </p:txBody>
      </p:sp>
      <p:sp>
        <p:nvSpPr>
          <p:cNvPr id="8" name="t7 step card 2"/>
          <p:cNvSpPr/>
          <p:nvPr/>
        </p:nvSpPr>
        <p:spPr>
          <a:xfrm>
            <a:off x="2560320" y="1097280"/>
            <a:ext cx="1965960" cy="2743200"/>
          </a:xfrm>
          <a:prstGeom prst="roundRect">
            <a:avLst>
              <a:gd name="adj" fmla="val 3721"/>
            </a:avLst>
          </a:prstGeom>
          <a:solidFill>
            <a:schemeClr val="bg2"/>
          </a:solidFill>
          <a:ln w="12700">
            <a:solidFill>
              <a:schemeClr val="bg2"/>
            </a:solidFill>
            <a:prstDash val="solid"/>
          </a:ln>
        </p:spPr>
      </p:sp>
      <p:sp>
        <p:nvSpPr>
          <p:cNvPr id="9" name="t7 step circle 2"/>
          <p:cNvSpPr/>
          <p:nvPr/>
        </p:nvSpPr>
        <p:spPr>
          <a:xfrm>
            <a:off x="2743200" y="1280160"/>
            <a:ext cx="548640" cy="548640"/>
          </a:xfrm>
          <a:prstGeom prst="ellipse">
            <a:avLst/>
          </a:prstGeom>
          <a:solidFill>
            <a:schemeClr val="accent1"/>
          </a:solidFill>
          <a:ln w="12700">
            <a:solidFill>
              <a:schemeClr val="accent1"/>
            </a:solidFill>
            <a:prstDash val="solid"/>
          </a:ln>
        </p:spPr>
      </p:sp>
      <p:pic>
        <p:nvPicPr>
          <p:cNvPr id="10" name="t7 step icon 2" descr="2  Leaderboard splits">    </p:cNvPr>
          <p:cNvPicPr>
            <a:picLocks noChangeAspect="1"/>
          </p:cNvPicPr>
          <p:nvPr/>
        </p:nvPicPr>
        <p:blipFill>
          <a:blip r:embed="rId2"/>
          <a:stretch>
            <a:fillRect/>
          </a:stretch>
        </p:blipFill>
        <p:spPr>
          <a:xfrm>
            <a:off x="2880360" y="1417320"/>
            <a:ext cx="274320" cy="274320"/>
          </a:xfrm>
          <a:prstGeom prst="rect">
            <a:avLst/>
          </a:prstGeom>
        </p:spPr>
      </p:pic>
      <p:sp>
        <p:nvSpPr>
          <p:cNvPr id="11" name="t7 step name 2"/>
          <p:cNvSpPr txBox="1"/>
          <p:nvPr/>
        </p:nvSpPr>
        <p:spPr>
          <a:xfrm>
            <a:off x="2743200" y="1965960"/>
            <a:ext cx="1645920" cy="548640"/>
          </a:xfrm>
          <a:prstGeom prst="rect">
            <a:avLst/>
          </a:prstGeom>
          <a:noFill/>
          <a:ln/>
        </p:spPr>
        <p:txBody>
          <a:bodyPr wrap="square" lIns="0" tIns="0" rIns="0" bIns="0" rtlCol="0" anchor="t"/>
          <a:lstStyle/>
          <a:p>
            <a:pPr indent="0" marL="0">
              <a:buNone/>
            </a:pPr>
            <a:r>
              <a:rPr lang="en-US" sz="1500" b="1" dirty="0">
                <a:solidFill>
                  <a:schemeClr val="tx1"/>
                </a:solidFill>
              </a:rPr>
              <a:t>2  Leaderboard splits</a:t>
            </a:r>
            <a:endParaRPr lang="en-US" sz="1500" dirty="0"/>
          </a:p>
        </p:txBody>
      </p:sp>
      <p:sp>
        <p:nvSpPr>
          <p:cNvPr id="12" name="t7 step text 2"/>
          <p:cNvSpPr txBox="1"/>
          <p:nvPr/>
        </p:nvSpPr>
        <p:spPr>
          <a:xfrm>
            <a:off x="2743200" y="2560320"/>
            <a:ext cx="1645920" cy="1188720"/>
          </a:xfrm>
          <a:prstGeom prst="rect">
            <a:avLst/>
          </a:prstGeom>
          <a:noFill/>
          <a:ln/>
        </p:spPr>
        <p:txBody>
          <a:bodyPr wrap="square" lIns="0" tIns="0" rIns="0" bIns="0" rtlCol="0" anchor="t"/>
          <a:lstStyle/>
          <a:p>
            <a:pPr indent="0" marL="0">
              <a:buNone/>
            </a:pPr>
            <a:r>
              <a:rPr lang="en-US" sz="1200" dirty="0">
                <a:solidFill>
                  <a:schemeClr val="tx2"/>
                </a:solidFill>
              </a:rPr>
              <a:t>Each half of the policies gets a different rule; the count says which one was right</a:t>
            </a:r>
            <a:endParaRPr lang="en-US" sz="1200" dirty="0"/>
          </a:p>
        </p:txBody>
      </p:sp>
      <p:sp>
        <p:nvSpPr>
          <p:cNvPr id="13" name="t7 step card 3"/>
          <p:cNvSpPr/>
          <p:nvPr/>
        </p:nvSpPr>
        <p:spPr>
          <a:xfrm>
            <a:off x="4663440" y="1097280"/>
            <a:ext cx="1965960" cy="2743200"/>
          </a:xfrm>
          <a:prstGeom prst="roundRect">
            <a:avLst>
              <a:gd name="adj" fmla="val 3721"/>
            </a:avLst>
          </a:prstGeom>
          <a:solidFill>
            <a:schemeClr val="bg2"/>
          </a:solidFill>
          <a:ln w="12700">
            <a:solidFill>
              <a:schemeClr val="bg2"/>
            </a:solidFill>
            <a:prstDash val="solid"/>
          </a:ln>
        </p:spPr>
      </p:sp>
      <p:sp>
        <p:nvSpPr>
          <p:cNvPr id="14" name="t7 step circle 3"/>
          <p:cNvSpPr/>
          <p:nvPr/>
        </p:nvSpPr>
        <p:spPr>
          <a:xfrm>
            <a:off x="4846320" y="1280160"/>
            <a:ext cx="548640" cy="548640"/>
          </a:xfrm>
          <a:prstGeom prst="ellipse">
            <a:avLst/>
          </a:prstGeom>
          <a:solidFill>
            <a:schemeClr val="accent1"/>
          </a:solidFill>
          <a:ln w="12700">
            <a:solidFill>
              <a:schemeClr val="accent1"/>
            </a:solidFill>
            <a:prstDash val="solid"/>
          </a:ln>
        </p:spPr>
      </p:sp>
      <p:pic>
        <p:nvPicPr>
          <p:cNvPr id="15" name="t7 step icon 3" descr="3  One rule per mismatch">    </p:cNvPr>
          <p:cNvPicPr>
            <a:picLocks noChangeAspect="1"/>
          </p:cNvPicPr>
          <p:nvPr/>
        </p:nvPicPr>
        <p:blipFill>
          <a:blip r:embed="rId3"/>
          <a:stretch>
            <a:fillRect/>
          </a:stretch>
        </p:blipFill>
        <p:spPr>
          <a:xfrm>
            <a:off x="4983480" y="1417320"/>
            <a:ext cx="274320" cy="274320"/>
          </a:xfrm>
          <a:prstGeom prst="rect">
            <a:avLst/>
          </a:prstGeom>
        </p:spPr>
      </p:pic>
      <p:sp>
        <p:nvSpPr>
          <p:cNvPr id="16" name="t7 step name 3"/>
          <p:cNvSpPr txBox="1"/>
          <p:nvPr/>
        </p:nvSpPr>
        <p:spPr>
          <a:xfrm>
            <a:off x="4846320" y="1965960"/>
            <a:ext cx="1645920" cy="548640"/>
          </a:xfrm>
          <a:prstGeom prst="rect">
            <a:avLst/>
          </a:prstGeom>
          <a:noFill/>
          <a:ln/>
        </p:spPr>
        <p:txBody>
          <a:bodyPr wrap="square" lIns="0" tIns="0" rIns="0" bIns="0" rtlCol="0" anchor="t"/>
          <a:lstStyle/>
          <a:p>
            <a:pPr indent="0" marL="0">
              <a:buNone/>
            </a:pPr>
            <a:r>
              <a:rPr lang="en-US" sz="1500" b="1" dirty="0">
                <a:solidFill>
                  <a:schemeClr val="tx1"/>
                </a:solidFill>
              </a:rPr>
              <a:t>3  One rule per mismatch</a:t>
            </a:r>
            <a:endParaRPr lang="en-US" sz="1500" dirty="0"/>
          </a:p>
        </p:txBody>
      </p:sp>
      <p:sp>
        <p:nvSpPr>
          <p:cNvPr id="17" name="t7 step text 3"/>
          <p:cNvSpPr txBox="1"/>
          <p:nvPr/>
        </p:nvSpPr>
        <p:spPr>
          <a:xfrm>
            <a:off x="4846320" y="2560320"/>
            <a:ext cx="1645920" cy="1188720"/>
          </a:xfrm>
          <a:prstGeom prst="rect">
            <a:avLst/>
          </a:prstGeom>
          <a:noFill/>
          <a:ln/>
        </p:spPr>
        <p:txBody>
          <a:bodyPr wrap="square" lIns="0" tIns="0" rIns="0" bIns="0" rtlCol="0" anchor="t"/>
          <a:lstStyle/>
          <a:p>
            <a:pPr indent="0" marL="0">
              <a:buNone/>
            </a:pPr>
            <a:r>
              <a:rPr lang="en-US" sz="1200" dirty="0">
                <a:solidFill>
                  <a:schemeClr val="tx2"/>
                </a:solidFill>
              </a:rPr>
              <a:t>On the organisers' samples every wrong row got its own rule, checked on all 110 rows</a:t>
            </a:r>
            <a:endParaRPr lang="en-US" sz="1200" dirty="0"/>
          </a:p>
        </p:txBody>
      </p:sp>
      <p:sp>
        <p:nvSpPr>
          <p:cNvPr id="18" name="t7 step card 4"/>
          <p:cNvSpPr/>
          <p:nvPr/>
        </p:nvSpPr>
        <p:spPr>
          <a:xfrm>
            <a:off x="6766560" y="1097280"/>
            <a:ext cx="1965960" cy="2743200"/>
          </a:xfrm>
          <a:prstGeom prst="roundRect">
            <a:avLst>
              <a:gd name="adj" fmla="val 3721"/>
            </a:avLst>
          </a:prstGeom>
          <a:solidFill>
            <a:schemeClr val="bg2"/>
          </a:solidFill>
          <a:ln w="12700">
            <a:solidFill>
              <a:schemeClr val="bg2"/>
            </a:solidFill>
            <a:prstDash val="solid"/>
          </a:ln>
        </p:spPr>
      </p:sp>
      <p:sp>
        <p:nvSpPr>
          <p:cNvPr id="19" name="t7 step circle 4"/>
          <p:cNvSpPr/>
          <p:nvPr/>
        </p:nvSpPr>
        <p:spPr>
          <a:xfrm>
            <a:off x="6949440" y="1280160"/>
            <a:ext cx="548640" cy="548640"/>
          </a:xfrm>
          <a:prstGeom prst="ellipse">
            <a:avLst/>
          </a:prstGeom>
          <a:solidFill>
            <a:schemeClr val="accent1"/>
          </a:solidFill>
          <a:ln w="12700">
            <a:solidFill>
              <a:schemeClr val="accent1"/>
            </a:solidFill>
            <a:prstDash val="solid"/>
          </a:ln>
        </p:spPr>
      </p:sp>
      <p:pic>
        <p:nvPicPr>
          <p:cNvPr id="20" name="t7 step icon 4" descr="4  The law decides">    </p:cNvPr>
          <p:cNvPicPr>
            <a:picLocks noChangeAspect="1"/>
          </p:cNvPicPr>
          <p:nvPr/>
        </p:nvPicPr>
        <p:blipFill>
          <a:blip r:embed="rId4"/>
          <a:stretch>
            <a:fillRect/>
          </a:stretch>
        </p:blipFill>
        <p:spPr>
          <a:xfrm>
            <a:off x="7086600" y="1417320"/>
            <a:ext cx="274320" cy="274320"/>
          </a:xfrm>
          <a:prstGeom prst="rect">
            <a:avLst/>
          </a:prstGeom>
        </p:spPr>
      </p:pic>
      <p:sp>
        <p:nvSpPr>
          <p:cNvPr id="21" name="t7 step name 4"/>
          <p:cNvSpPr txBox="1"/>
          <p:nvPr/>
        </p:nvSpPr>
        <p:spPr>
          <a:xfrm>
            <a:off x="6949440" y="1965960"/>
            <a:ext cx="1645920" cy="548640"/>
          </a:xfrm>
          <a:prstGeom prst="rect">
            <a:avLst/>
          </a:prstGeom>
          <a:noFill/>
          <a:ln/>
        </p:spPr>
        <p:txBody>
          <a:bodyPr wrap="square" lIns="0" tIns="0" rIns="0" bIns="0" rtlCol="0" anchor="t"/>
          <a:lstStyle/>
          <a:p>
            <a:pPr indent="0" marL="0">
              <a:buNone/>
            </a:pPr>
            <a:r>
              <a:rPr lang="en-US" sz="1500" b="1" dirty="0">
                <a:solidFill>
                  <a:schemeClr val="tx1"/>
                </a:solidFill>
              </a:rPr>
              <a:t>4  The law decides</a:t>
            </a:r>
            <a:endParaRPr lang="en-US" sz="1500" dirty="0"/>
          </a:p>
        </p:txBody>
      </p:sp>
      <p:sp>
        <p:nvSpPr>
          <p:cNvPr id="22" name="t7 step text 4"/>
          <p:cNvSpPr txBox="1"/>
          <p:nvPr/>
        </p:nvSpPr>
        <p:spPr>
          <a:xfrm>
            <a:off x="6949440" y="2560320"/>
            <a:ext cx="1645920" cy="1188720"/>
          </a:xfrm>
          <a:prstGeom prst="rect">
            <a:avLst/>
          </a:prstGeom>
          <a:noFill/>
          <a:ln/>
        </p:spPr>
        <p:txBody>
          <a:bodyPr wrap="square" lIns="0" tIns="0" rIns="0" bIns="0" rtlCol="0" anchor="t"/>
          <a:lstStyle/>
          <a:p>
            <a:pPr indent="0" marL="0">
              <a:buNone/>
            </a:pPr>
            <a:r>
              <a:rPr lang="en-US" sz="1200" dirty="0">
                <a:solidFill>
                  <a:schemeClr val="tx2"/>
                </a:solidFill>
              </a:rPr>
              <a:t>Where no sample shows the case, the rule follows Swiss, Italian and German law</a:t>
            </a:r>
            <a:endParaRPr lang="en-US" sz="1200" dirty="0"/>
          </a:p>
        </p:txBody>
      </p:sp>
      <p:sp>
        <p:nvSpPr>
          <p:cNvPr id="23" name="t7 setting"/>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400" i="1" dirty="0">
                <a:solidFill>
                  <a:schemeClr val="accent1"/>
                </a:solidFill>
              </a:rPr>
              <a:t>No targets at first, two examples, and a leaderboard of 40 payouts and 30 policy years.</a:t>
            </a:r>
            <a:endParaRPr lang="en-US" sz="14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One mismatch, one rule</a:t>
            </a:r>
            <a:endParaRPr lang="en-US" sz="3000" dirty="0"/>
          </a:p>
        </p:txBody>
      </p:sp>
      <p:graphicFrame>
        <p:nvGraphicFramePr>
          <p:cNvPr id="10" name="t7 rules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834640"/>
                <a:gridCol w="4754880"/>
                <a:gridCol w="640080"/>
              </a:tblGrid>
              <a:tr h="384048">
                <a:tc>
                  <a:txBody>
                    <a:bodyP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Mismatch we saw</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2E4057"/>
                    </a:solidFill>
                  </a:tcPr>
                </a:tc>
                <a:tc>
                  <a:txBody>
                    <a:bodyP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Rule we found</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2E4057"/>
                    </a:solidFill>
                  </a:tcPr>
                </a:tc>
                <a:tc>
                  <a:txBody>
                    <a:bodyP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Rows</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2E4057"/>
                    </a:solidFill>
                  </a:tcPr>
                </a:tc>
              </a:tr>
              <a:tr h="384048">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Swiss payouts without tax still have a base</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Base = amount paid in CHF; elsewhere 0.00; no date without tax</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33</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31 Dec 2017 vs 3 Jan 2018</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A deadline on a closed day moves to the next business day (2 January closed)</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6</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Italian tax above 26 %</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Each rate on the gain earned while it was valid (2012, 2014 rate changes)</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10</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German tax 28.71, not 29.36</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Capital gains tax reduced by church tax, cents cut off</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3</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Italian duty one day short</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Days up to and including the payout day, over the days of that year</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7</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One cent off in 2019</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The 2019 correction is one booking, rounded once</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4</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A tax in the wrong year</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A withheld tax counts in the year it was paid to the tax office</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latin typeface="Times New Roman" pitchFamily="34" charset="0"/>
                          <a:ea typeface="Times New Roman" pitchFamily="34" charset="-122"/>
                          <a:cs typeface="Times New Roman" pitchFamily="34" charset="-120"/>
                        </a:rPr>
                        <a:t>5</a:t>
                      </a:r>
                      <a:endParaRPr lang="en-US" sz="1200" dirty="0">
                        <a:latin typeface="Times New Roman" charset="0"/>
                        <a:ea typeface="Times New Roman" charset="0"/>
                        <a:cs typeface="Times New Roman" charset="0"/>
                      </a:endParaRPr>
                    </a:p>
                  </a:txBody>
                  <a:tcPr marL="91440" marR="91440" marT="45720" marB="45720" anchor="ct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The Italian tax, period by period</a:t>
            </a:r>
            <a:endParaRPr lang="en-US" sz="3000" dirty="0"/>
          </a:p>
        </p:txBody>
      </p:sp>
      <p:pic>
        <p:nvPicPr>
          <p:cNvPr id="3" name="Italian split plot" descr="Policy value and premiums of BL10001596 with the three Italian rate periods">    </p:cNvPr>
          <p:cNvPicPr>
            <a:picLocks noChangeAspect="1"/>
          </p:cNvPicPr>
          <p:nvPr/>
        </p:nvPicPr>
        <p:blipFill>
          <a:blip r:embed="rId1"/>
          <a:stretch>
            <a:fillRect/>
          </a:stretch>
        </p:blipFill>
        <p:spPr>
          <a:xfrm>
            <a:off x="685800" y="960120"/>
            <a:ext cx="7772400" cy="3562350"/>
          </a:xfrm>
          <a:prstGeom prst="rect">
            <a:avLst/>
          </a:prstGeom>
        </p:spPr>
      </p:pic>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t7 results: annual 11 → 29 of 30</a:t>
            </a:r>
            <a:endParaRPr lang="en-US" sz="3000" dirty="0"/>
          </a:p>
        </p:txBody>
      </p:sp>
      <p:pic>
        <p:nvPicPr>
          <p:cNvPr id="3" name="Score progression plot" descr="t7 leaderboard accuracy per upload">    </p:cNvPr>
          <p:cNvPicPr>
            <a:picLocks noChangeAspect="1"/>
          </p:cNvPicPr>
          <p:nvPr/>
        </p:nvPicPr>
        <p:blipFill>
          <a:blip r:embed="rId1"/>
          <a:stretch>
            <a:fillRect/>
          </a:stretch>
        </p:blipFill>
        <p:spPr>
          <a:xfrm>
            <a:off x="457200" y="960120"/>
            <a:ext cx="5852160" cy="2438400"/>
          </a:xfrm>
          <a:prstGeom prst="rect">
            <a:avLst/>
          </a:prstGeom>
        </p:spPr>
      </p:pic>
      <p:sp>
        <p:nvSpPr>
          <p:cNvPr id="4" name="t7 result card 1"/>
          <p:cNvSpPr/>
          <p:nvPr/>
        </p:nvSpPr>
        <p:spPr>
          <a:xfrm>
            <a:off x="6492240" y="1005840"/>
            <a:ext cx="2194560" cy="1005840"/>
          </a:xfrm>
          <a:prstGeom prst="roundRect">
            <a:avLst>
              <a:gd name="adj" fmla="val 7273"/>
            </a:avLst>
          </a:prstGeom>
          <a:solidFill>
            <a:schemeClr val="bg2"/>
          </a:solidFill>
          <a:ln w="12700">
            <a:solidFill>
              <a:schemeClr val="bg2"/>
            </a:solidFill>
            <a:prstDash val="solid"/>
          </a:ln>
        </p:spPr>
      </p:sp>
      <p:sp>
        <p:nvSpPr>
          <p:cNvPr id="5" name="t7 result value 1"/>
          <p:cNvSpPr txBox="1"/>
          <p:nvPr/>
        </p:nvSpPr>
        <p:spPr>
          <a:xfrm>
            <a:off x="6629400" y="1078992"/>
            <a:ext cx="1920240" cy="45720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29 / 30</a:t>
            </a:r>
            <a:endParaRPr lang="en-US" sz="2400" dirty="0"/>
          </a:p>
        </p:txBody>
      </p:sp>
      <p:sp>
        <p:nvSpPr>
          <p:cNvPr id="6" name="t7 result label 1"/>
          <p:cNvSpPr txBox="1"/>
          <p:nvPr/>
        </p:nvSpPr>
        <p:spPr>
          <a:xfrm>
            <a:off x="6629400" y="1554480"/>
            <a:ext cx="1920240" cy="411480"/>
          </a:xfrm>
          <a:prstGeom prst="rect">
            <a:avLst/>
          </a:prstGeom>
          <a:noFill/>
          <a:ln/>
        </p:spPr>
        <p:txBody>
          <a:bodyPr wrap="square" lIns="0" tIns="0" rIns="0" bIns="0" rtlCol="0" anchor="ctr"/>
          <a:lstStyle/>
          <a:p>
            <a:pPr indent="0" marL="0">
              <a:buNone/>
            </a:pPr>
            <a:r>
              <a:rPr lang="en-US" sz="1100" dirty="0">
                <a:solidFill>
                  <a:schemeClr val="tx2"/>
                </a:solidFill>
              </a:rPr>
              <a:t>annual rows on the leaderboard</a:t>
            </a:r>
            <a:endParaRPr lang="en-US" sz="1100" dirty="0"/>
          </a:p>
        </p:txBody>
      </p:sp>
      <p:sp>
        <p:nvSpPr>
          <p:cNvPr id="7" name="t7 result card 2"/>
          <p:cNvSpPr/>
          <p:nvPr/>
        </p:nvSpPr>
        <p:spPr>
          <a:xfrm>
            <a:off x="6492240" y="2148840"/>
            <a:ext cx="2194560" cy="1005840"/>
          </a:xfrm>
          <a:prstGeom prst="roundRect">
            <a:avLst>
              <a:gd name="adj" fmla="val 7273"/>
            </a:avLst>
          </a:prstGeom>
          <a:solidFill>
            <a:schemeClr val="bg2"/>
          </a:solidFill>
          <a:ln w="12700">
            <a:solidFill>
              <a:schemeClr val="bg2"/>
            </a:solidFill>
            <a:prstDash val="solid"/>
          </a:ln>
        </p:spPr>
      </p:sp>
      <p:sp>
        <p:nvSpPr>
          <p:cNvPr id="8" name="t7 result value 2"/>
          <p:cNvSpPr txBox="1"/>
          <p:nvPr/>
        </p:nvSpPr>
        <p:spPr>
          <a:xfrm>
            <a:off x="6629400" y="2221992"/>
            <a:ext cx="1920240" cy="45720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109 / 110</a:t>
            </a:r>
            <a:endParaRPr lang="en-US" sz="2400" dirty="0"/>
          </a:p>
        </p:txBody>
      </p:sp>
      <p:sp>
        <p:nvSpPr>
          <p:cNvPr id="9" name="t7 result label 2"/>
          <p:cNvSpPr txBox="1"/>
          <p:nvPr/>
        </p:nvSpPr>
        <p:spPr>
          <a:xfrm>
            <a:off x="6629400" y="2697480"/>
            <a:ext cx="1920240" cy="411480"/>
          </a:xfrm>
          <a:prstGeom prst="rect">
            <a:avLst/>
          </a:prstGeom>
          <a:noFill/>
          <a:ln/>
        </p:spPr>
        <p:txBody>
          <a:bodyPr wrap="square" lIns="0" tIns="0" rIns="0" bIns="0" rtlCol="0" anchor="ctr"/>
          <a:lstStyle/>
          <a:p>
            <a:pPr indent="0" marL="0">
              <a:buNone/>
            </a:pPr>
            <a:r>
              <a:rPr lang="en-US" sz="1100" dirty="0">
                <a:solidFill>
                  <a:schemeClr val="tx2"/>
                </a:solidFill>
              </a:rPr>
              <a:t>published sample rows exact (one off by a cent)</a:t>
            </a:r>
            <a:endParaRPr lang="en-US" sz="1100" dirty="0"/>
          </a:p>
        </p:txBody>
      </p:sp>
      <p:sp>
        <p:nvSpPr>
          <p:cNvPr id="10" name="t7 result card 3"/>
          <p:cNvSpPr/>
          <p:nvPr/>
        </p:nvSpPr>
        <p:spPr>
          <a:xfrm>
            <a:off x="6492240" y="3291840"/>
            <a:ext cx="2194560" cy="1005840"/>
          </a:xfrm>
          <a:prstGeom prst="roundRect">
            <a:avLst>
              <a:gd name="adj" fmla="val 7273"/>
            </a:avLst>
          </a:prstGeom>
          <a:solidFill>
            <a:schemeClr val="bg2"/>
          </a:solidFill>
          <a:ln w="12700">
            <a:solidFill>
              <a:schemeClr val="bg2"/>
            </a:solidFill>
            <a:prstDash val="solid"/>
          </a:ln>
        </p:spPr>
      </p:sp>
      <p:sp>
        <p:nvSpPr>
          <p:cNvPr id="11" name="t7 result value 3"/>
          <p:cNvSpPr txBox="1"/>
          <p:nvPr/>
        </p:nvSpPr>
        <p:spPr>
          <a:xfrm>
            <a:off x="6629400" y="3364992"/>
            <a:ext cx="1920240" cy="45720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88.80 %</a:t>
            </a:r>
            <a:endParaRPr lang="en-US" sz="2400" dirty="0"/>
          </a:p>
        </p:txBody>
      </p:sp>
      <p:sp>
        <p:nvSpPr>
          <p:cNvPr id="12" name="t7 result label 3"/>
          <p:cNvSpPr txBox="1"/>
          <p:nvPr/>
        </p:nvSpPr>
        <p:spPr>
          <a:xfrm>
            <a:off x="6629400" y="3840480"/>
            <a:ext cx="1920240" cy="411480"/>
          </a:xfrm>
          <a:prstGeom prst="rect">
            <a:avLst/>
          </a:prstGeom>
          <a:noFill/>
          <a:ln/>
        </p:spPr>
        <p:txBody>
          <a:bodyPr wrap="square" lIns="0" tIns="0" rIns="0" bIns="0" rtlCol="0" anchor="ctr"/>
          <a:lstStyle/>
          <a:p>
            <a:pPr indent="0" marL="0">
              <a:buNone/>
            </a:pPr>
            <a:r>
              <a:rPr lang="en-US" sz="1100" dirty="0">
                <a:solidFill>
                  <a:schemeClr val="tx2"/>
                </a:solidFill>
              </a:rPr>
              <a:t>average accuracy, from 77.01 %</a:t>
            </a:r>
            <a:endParaRPr lang="en-US" sz="1100" dirty="0"/>
          </a:p>
        </p:txBody>
      </p:sp>
      <p:sp>
        <p:nvSpPr>
          <p:cNvPr id="13" name="t7 caveat"/>
          <p:cNvSpPr txBox="1"/>
          <p:nvPr/>
        </p:nvSpPr>
        <p:spPr>
          <a:xfrm>
            <a:off x="457200" y="3749040"/>
            <a:ext cx="5852160" cy="685800"/>
          </a:xfrm>
          <a:prstGeom prst="rect">
            <a:avLst/>
          </a:prstGeom>
          <a:noFill/>
          <a:ln/>
        </p:spPr>
        <p:txBody>
          <a:bodyPr wrap="square" lIns="0" tIns="0" rIns="0" bIns="0" rtlCol="0" anchor="ctr"/>
          <a:lstStyle/>
          <a:p>
            <a:pPr indent="0" marL="0">
              <a:buNone/>
            </a:pPr>
            <a:r>
              <a:rPr lang="en-US" sz="1100" i="1" dirty="0">
                <a:solidFill>
                  <a:schemeClr val="tx2"/>
                </a:solidFill>
              </a:rPr>
              <a:t>The leaderboard credits our dated payout rows; the undated ones we match exactly in the published samples are not credited there.</a:t>
            </a:r>
            <a:endParaRPr lang="en-US" sz="11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Where the samples are silent, the law decides</a:t>
            </a:r>
            <a:endParaRPr lang="en-US" sz="3000" dirty="0"/>
          </a:p>
        </p:txBody>
      </p:sp>
      <p:pic>
        <p:nvPicPr>
          <p:cNvPr id="3" name="Sample coverage plot" descr="Payout patterns and how many the published samples checked">    </p:cNvPr>
          <p:cNvPicPr>
            <a:picLocks noChangeAspect="1"/>
          </p:cNvPicPr>
          <p:nvPr/>
        </p:nvPicPr>
        <p:blipFill>
          <a:blip r:embed="rId1"/>
          <a:stretch>
            <a:fillRect/>
          </a:stretch>
        </p:blipFill>
        <p:spPr>
          <a:xfrm>
            <a:off x="365760" y="1005840"/>
            <a:ext cx="5486400" cy="2532185"/>
          </a:xfrm>
          <a:prstGeom prst="rect">
            <a:avLst/>
          </a:prstGeom>
        </p:spPr>
      </p:pic>
      <p:sp>
        <p:nvSpPr>
          <p:cNvPr id="4" name="Law bullets"/>
          <p:cNvSpPr txBox="1"/>
          <p:nvPr/>
        </p:nvSpPr>
        <p:spPr>
          <a:xfrm>
            <a:off x="6035040" y="1051560"/>
            <a:ext cx="2743200" cy="3291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Red cells: patterns no sample ever checked</a:t>
            </a:r>
            <a:endParaRPr lang="en-US" sz="1300" dirty="0"/>
          </a:p>
          <a:p>
            <a:pPr marL="342900" indent="-342900">
              <a:spcAft>
                <a:spcPts val="800"/>
              </a:spcAft>
              <a:buSzPct val="100000"/>
              <a:buChar char="•"/>
            </a:pPr>
            <a:r>
              <a:rPr lang="en-US" sz="1300" dirty="0">
                <a:solidFill>
                  <a:schemeClr val="tx1"/>
                </a:solidFill>
              </a:rPr>
              <a:t>Swiss tax is due 30 days after the end of the month (Art. 16 VStG)</a:t>
            </a:r>
            <a:endParaRPr lang="en-US" sz="1300" dirty="0"/>
          </a:p>
          <a:p>
            <a:pPr marL="342900" indent="-342900">
              <a:spcAft>
                <a:spcPts val="800"/>
              </a:spcAft>
              <a:buSzPct val="100000"/>
              <a:buChar char="•"/>
            </a:pPr>
            <a:r>
              <a:rPr lang="en-US" sz="1300" dirty="0">
                <a:solidFill>
                  <a:schemeClr val="tx1"/>
                </a:solidFill>
              </a:rPr>
              <a:t>Dates count from the month the money was paid (PD_PAYDAY, the one field no other task uses)</a:t>
            </a:r>
            <a:endParaRPr lang="en-US" sz="1300" dirty="0"/>
          </a:p>
          <a:p>
            <a:pPr marL="342900" indent="-342900">
              <a:spcAft>
                <a:spcPts val="800"/>
              </a:spcAft>
              <a:buSzPct val="100000"/>
              <a:buChar char="•"/>
            </a:pPr>
            <a:r>
              <a:rPr lang="en-US" sz="1300" dirty="0">
                <a:solidFill>
                  <a:schemeClr val="tx1"/>
                </a:solidFill>
              </a:rPr>
              <a:t>Each choice keeps all 110 sample rows exact</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Logo card"/>
          <p:cNvSpPr/>
          <p:nvPr/>
        </p:nvSpPr>
        <p:spPr>
          <a:xfrm>
            <a:off x="548640" y="411480"/>
            <a:ext cx="2377440" cy="1417320"/>
          </a:xfrm>
          <a:prstGeom prst="roundRect">
            <a:avLst>
              <a:gd name="adj" fmla="val 5161"/>
            </a:avLst>
          </a:prstGeom>
          <a:solidFill>
            <a:schemeClr val="bg1"/>
          </a:solidFill>
          <a:ln w="12700">
            <a:solidFill>
              <a:schemeClr val="bg1"/>
            </a:solidFill>
            <a:prstDash val="solid"/>
          </a:ln>
        </p:spPr>
      </p:sp>
      <p:pic>
        <p:nvPicPr>
          <p:cNvPr id="3" name="USI logo" descr="Università della Svizzera italiana logo">    </p:cNvPr>
          <p:cNvPicPr>
            <a:picLocks noChangeAspect="1"/>
          </p:cNvPicPr>
          <p:nvPr/>
        </p:nvPicPr>
        <p:blipFill>
          <a:blip r:embed="rId1"/>
          <a:stretch>
            <a:fillRect/>
          </a:stretch>
        </p:blipFill>
        <p:spPr>
          <a:xfrm>
            <a:off x="640080" y="502920"/>
            <a:ext cx="2194560" cy="1234440"/>
          </a:xfrm>
          <a:prstGeom prst="rect">
            <a:avLst/>
          </a:prstGeom>
        </p:spPr>
      </p:pic>
      <p:sp>
        <p:nvSpPr>
          <p:cNvPr id="4" name="Text 0"/>
          <p:cNvSpPr/>
          <p:nvPr>
            <p:ph idx="100" type="title" hasCustomPrompt="1"/>
          </p:nvPr>
        </p:nvSpPr>
        <p:spPr>
          <a:xfrm>
            <a:off x="548640" y="1874520"/>
            <a:ext cx="8046720" cy="777240"/>
          </a:xfrm>
          <a:prstGeom prst="rect">
            <a:avLst/>
          </a:prstGeom>
          <a:noFill/>
          <a:ln/>
        </p:spPr>
        <p:txBody>
          <a:bodyPr wrap="square" lIns="0" tIns="0" rIns="0" bIns="0" rtlCol="0" anchor="b"/>
          <a:lstStyle/>
          <a:p>
            <a:pPr algn="l" indent="0" marL="0">
              <a:buNone/>
            </a:pPr>
            <a:r>
              <a:rPr lang="en-US" sz="4000" b="1" dirty="0">
                <a:solidFill>
                  <a:schemeClr val="bg1"/>
                </a:solidFill>
                <a:latin typeface="Times New Roman" pitchFamily="34" charset="0"/>
                <a:ea typeface="Times New Roman" pitchFamily="34" charset="-122"/>
                <a:cs typeface="Times New Roman" pitchFamily="34" charset="-120"/>
              </a:rPr>
              <a:t>Thank you</a:t>
            </a:r>
            <a:endParaRPr lang="en-US" sz="4000" dirty="0"/>
          </a:p>
        </p:txBody>
      </p:sp>
      <p:sp>
        <p:nvSpPr>
          <p:cNvPr id="5" name="Text 0"/>
          <p:cNvSpPr/>
          <p:nvPr>
            <p:ph idx="101" type="body" hasCustomPrompt="1"/>
          </p:nvPr>
        </p:nvSpPr>
        <p:spPr>
          <a:xfrm>
            <a:off x="548640" y="2697480"/>
            <a:ext cx="8046720" cy="640080"/>
          </a:xfrm>
          <a:prstGeom prst="rect">
            <a:avLst/>
          </a:prstGeom>
          <a:noFill/>
          <a:ln/>
        </p:spPr>
        <p:txBody>
          <a:bodyPr wrap="square" lIns="0" tIns="0" rIns="0" bIns="0" rtlCol="0" anchor="t"/>
          <a:lstStyle/>
          <a:p>
            <a:pPr algn="l" indent="0" marL="0">
              <a:buNone/>
            </a:pPr>
            <a:r>
              <a:rPr lang="en-US" sz="1800" dirty="0">
                <a:solidFill>
                  <a:schemeClr val="accent6"/>
                </a:solidFill>
              </a:rPr>
              <a:t>Questions are welcome</a:t>
            </a:r>
            <a:endParaRPr lang="en-US" sz="1800" dirty="0"/>
          </a:p>
        </p:txBody>
      </p:sp>
      <p:sp>
        <p:nvSpPr>
          <p:cNvPr id="6" name="Team name"/>
          <p:cNvSpPr txBox="1"/>
          <p:nvPr/>
        </p:nvSpPr>
        <p:spPr>
          <a:xfrm>
            <a:off x="548640" y="3749040"/>
            <a:ext cx="365760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TEAM NAMA</a:t>
            </a:r>
            <a:endParaRPr lang="en-US" sz="1400" dirty="0"/>
          </a:p>
        </p:txBody>
      </p:sp>
      <p:sp>
        <p:nvSpPr>
          <p:cNvPr id="7" name="Members"/>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600" dirty="0">
                <a:solidFill>
                  <a:schemeClr val="bg1"/>
                </a:solidFill>
              </a:rPr>
              <a:t>Mohammad Javad Amin  ·  Nava Biglar  ·  Malihe Ghasemian  ·  Emad Aghajani</a:t>
            </a:r>
            <a:endParaRPr lang="en-US" sz="1600" dirty="0"/>
          </a:p>
        </p:txBody>
      </p:sp>
    </p:spTree>
  </p:cSld>
  <p:clrMapOvr>
    <a:masterClrMapping/>
  </p:clrMapOvr>
</p:sld>
</file>

<file path=ppt/theme/theme1.xml><?xml version="1.0" encoding="utf-8"?>
<a:theme xmlns:a="http://schemas.openxmlformats.org/drawingml/2006/main" name="NAMA Neuron">
  <a:themeElements>
    <a:clrScheme name="NAMA Neuron">
      <a:dk1>
        <a:srgbClr val="16212E"/>
      </a:dk1>
      <a:lt1>
        <a:srgbClr val="FFFFFF"/>
      </a:lt1>
      <a:dk2>
        <a:srgbClr val="2E4057"/>
      </a:dk2>
      <a:lt2>
        <a:srgbClr val="EEF2F6"/>
      </a:lt2>
      <a:accent1>
        <a:srgbClr val="D52B1E"/>
      </a:accent1>
      <a:accent2>
        <a:srgbClr val="2E4057"/>
      </a:accent2>
      <a:accent3>
        <a:srgbClr val="1F8A70"/>
      </a:accent3>
      <a:accent4>
        <a:srgbClr val="6B7A8F"/>
      </a:accent4>
      <a:accent5>
        <a:srgbClr val="F4A259"/>
      </a:accent5>
      <a:accent6>
        <a:srgbClr val="A8B5C6"/>
      </a:accent6>
      <a:hlink>
        <a:srgbClr val="D52B1E"/>
      </a:hlink>
      <a:folHlink>
        <a:srgbClr val="6B7A8F"/>
      </a:folHlink>
    </a:clrScheme>
    <a:fontScheme name="NAMA Neuron">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Neuron Migration</dc:title>
  <dc:subject>PptxGenJS Presentation</dc:subject>
  <dc:creator>Team NAMA</dc:creator>
  <cp:lastModifiedBy>Team NAMA</cp:lastModifiedBy>
  <cp:revision>1</cp:revision>
  <dcterms:created xsi:type="dcterms:W3CDTF">2026-10-18T08:47:49Z</dcterms:created>
  <dcterms:modified xsi:type="dcterms:W3CDTF">2026-10-18T08:47:49Z</dcterms:modified>
</cp:coreProperties>
</file>