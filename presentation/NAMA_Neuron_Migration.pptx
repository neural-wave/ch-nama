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e4dac2-8ed3-9026-60b3-7bb60386cf5e}">
          <p14:sldIdLst>
            <p14:sldId id="256"/>
          </p14:sldIdLst>
        </p14:section>
        <p14:section name="Challenge" id="{8c3d9848-859e-880b-3418-1e8c948b420e}">
          <p14:sldIdLst>
            <p14:sldId id="257"/>
          </p14:sldIdLst>
        </p14:section>
        <p14:section name="Approach" id="{245c643e-3f8a-993c-edc6-2e5b7f889e3a}">
          <p14:sldIdLst>
            <p14:sldId id="258"/>
            <p14:sldId id="259"/>
          </p14:sldIdLst>
        </p14:section>
        <p14:section name="Findings" id="{54e42b02-b2d8-5fbf-cf6e-8519d6f736dd}">
          <p14:sldIdLst>
            <p14:sldId id="260"/>
            <p14:sldId id="261"/>
          </p14:sldIdLst>
        </p14:section>
        <p14:section name="Results" id="{66ba80b2-c1fd-9ea9-dc8d-15c2c147a123}">
          <p14:sldIdLst>
            <p14:sldId id="262"/>
          </p14:sldIdLst>
        </p14:section>
        <p14:section name="Surprise t7" id="{19caedcc-eca2-ea85-e4f8-f6fb7ff4188f}">
          <p14:sldIdLst>
            <p14:sldId id="263"/>
          </p14:sldIdLst>
        </p14:section>
        <p14:section name="Closing" id="{d1923791-4055-7923-e670-0a52926d3a0b}">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COBOL era</c:v>
                </c:pt>
              </c:strCache>
            </c:strRef>
          </c:tx>
          <c:spPr>
            <a:solidFill>
              <a:srgbClr val="E1E6E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Sheet1!$B$2:$B$33</c:f>
              <c:numCache>
                <c:formatCode>General</c:formatCode>
                <c:ptCount val="32"/>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lineChart>
        <c:varyColors val="0"/>
        <c:ser>
          <c:idx val="1"/>
          <c:order val="1"/>
          <c:tx>
            <c:strRef>
              <c:f>Sheet1!$C$1</c:f>
              <c:strCache>
                <c:ptCount val="1"/>
                <c:pt idx="0">
                  <c:v>t4 statements, NG rules only</c:v>
                </c:pt>
              </c:strCache>
            </c:strRef>
          </c:tx>
          <c:spPr>
            <a:solidFill>
              <a:srgbClr val="D52B1E"/>
            </a:solidFill>
            <a:ln w="31750" cap="flat">
              <a:solidFill>
                <a:srgbClr val="D52B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4A259"/>
              </a:solidFill>
              <a:ln w="9525" cap="flat">
                <a:solidFill>
                  <a:srgbClr val="D52B1E"/>
                </a:solidFill>
                <a:prstDash val="solid"/>
                <a:round/>
              </a:ln>
              <a:effectLst/>
            </c:spPr>
          </c:marker>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Sheet1!$C$2:$C$33</c:f>
              <c:numCache>
                <c:formatCode>General</c:formatCode>
                <c:ptCount val="32"/>
                <c:pt idx="0">
                  <c:v>88.2</c:v>
                </c:pt>
                <c:pt idx="1">
                  <c:v>96.6</c:v>
                </c:pt>
                <c:pt idx="2">
                  <c:v>93.4</c:v>
                </c:pt>
                <c:pt idx="3">
                  <c:v>95.6</c:v>
                </c:pt>
                <c:pt idx="4">
                  <c:v>97.3</c:v>
                </c:pt>
                <c:pt idx="5">
                  <c:v>98.8</c:v>
                </c:pt>
                <c:pt idx="6">
                  <c:v>98.1</c:v>
                </c:pt>
                <c:pt idx="7">
                  <c:v>98.1</c:v>
                </c:pt>
                <c:pt idx="8">
                  <c:v>98.4</c:v>
                </c:pt>
                <c:pt idx="9">
                  <c:v>99.2</c:v>
                </c:pt>
                <c:pt idx="10">
                  <c:v>98.5</c:v>
                </c:pt>
                <c:pt idx="11">
                  <c:v>99.3</c:v>
                </c:pt>
                <c:pt idx="12">
                  <c:v>98.9</c:v>
                </c:pt>
                <c:pt idx="13">
                  <c:v>94.1</c:v>
                </c:pt>
                <c:pt idx="14">
                  <c:v>73.1</c:v>
                </c:pt>
                <c:pt idx="15">
                  <c:v>62.8</c:v>
                </c:pt>
                <c:pt idx="16">
                  <c:v>55.6</c:v>
                </c:pt>
                <c:pt idx="17">
                  <c:v>48.9</c:v>
                </c:pt>
                <c:pt idx="18">
                  <c:v>43.6</c:v>
                </c:pt>
                <c:pt idx="19">
                  <c:v>40.8</c:v>
                </c:pt>
                <c:pt idx="20">
                  <c:v>37</c:v>
                </c:pt>
                <c:pt idx="21">
                  <c:v>33.8</c:v>
                </c:pt>
                <c:pt idx="22">
                  <c:v>30.7</c:v>
                </c:pt>
                <c:pt idx="23">
                  <c:v>28.1</c:v>
                </c:pt>
                <c:pt idx="24">
                  <c:v>25.3</c:v>
                </c:pt>
                <c:pt idx="25">
                  <c:v>23.6</c:v>
                </c:pt>
                <c:pt idx="26">
                  <c:v>21.9</c:v>
                </c:pt>
                <c:pt idx="27">
                  <c:v>21</c:v>
                </c:pt>
                <c:pt idx="28">
                  <c:v>19.6</c:v>
                </c:pt>
                <c:pt idx="29">
                  <c:v>18.5</c:v>
                </c:pt>
                <c:pt idx="30">
                  <c:v>17.5</c:v>
                </c:pt>
                <c:pt idx="31">
                  <c:v>17</c:v>
                </c:pt>
              </c:numCache>
            </c:numRef>
          </c:val>
          <c:smooth val="0"/>
        </c:ser>
        <c:ser>
          <c:idx val="2"/>
          <c:order val="2"/>
          <c:tx>
            <c:strRef>
              <c:f>Sheet1!$D$1</c:f>
              <c:strCache>
                <c:ptCount val="1"/>
                <c:pt idx="0">
                  <c:v>t2 offers, NG rules only</c:v>
                </c:pt>
              </c:strCache>
            </c:strRef>
          </c:tx>
          <c:spPr>
            <a:solidFill>
              <a:srgbClr val="F4A259"/>
            </a:solidFill>
            <a:ln w="31750" cap="flat">
              <a:solidFill>
                <a:srgbClr val="F4A2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70"/>
              </a:solidFill>
              <a:ln w="9525" cap="flat">
                <a:solidFill>
                  <a:srgbClr val="F4A259"/>
                </a:solidFill>
                <a:prstDash val="solid"/>
                <a:round/>
              </a:ln>
              <a:effectLst/>
            </c:spPr>
          </c:marker>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Sheet1!$D$2:$D$33</c:f>
              <c:numCache>
                <c:formatCode>General</c:formatCode>
                <c:ptCount val="32"/>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66.4</c:v>
                </c:pt>
                <c:pt idx="14">
                  <c:v>0</c:v>
                </c:pt>
                <c:pt idx="15">
                  <c:v>0</c:v>
                </c:pt>
                <c:pt idx="16">
                  <c:v>0</c:v>
                </c:pt>
                <c:pt idx="17">
                  <c:v>0</c:v>
                </c:pt>
                <c:pt idx="18">
                  <c:v>0.8</c:v>
                </c:pt>
                <c:pt idx="19">
                  <c:v>0</c:v>
                </c:pt>
                <c:pt idx="20">
                  <c:v>0</c:v>
                </c:pt>
                <c:pt idx="21">
                  <c:v>0.8</c:v>
                </c:pt>
                <c:pt idx="22">
                  <c:v>0</c:v>
                </c:pt>
                <c:pt idx="23">
                  <c:v>0</c:v>
                </c:pt>
                <c:pt idx="24">
                  <c:v>0</c:v>
                </c:pt>
                <c:pt idx="25">
                  <c:v>0</c:v>
                </c:pt>
                <c:pt idx="26">
                  <c:v>0</c:v>
                </c:pt>
                <c:pt idx="27">
                  <c:v>0.8</c:v>
                </c:pt>
                <c:pt idx="28">
                  <c:v>0</c:v>
                </c:pt>
                <c:pt idx="29">
                  <c:v>0.9</c:v>
                </c:pt>
                <c:pt idx="30">
                  <c:v>0.8</c:v>
                </c:pt>
                <c:pt idx="31">
                  <c:v>0</c:v>
                </c:pt>
              </c:numCache>
            </c:numRef>
          </c:val>
          <c:smooth val="0"/>
        </c:ser>
        <c:ser>
          <c:idx val="3"/>
          <c:order val="3"/>
          <c:tx>
            <c:strRef>
              <c:f>Sheet1!$E$1</c:f>
              <c:strCache>
                <c:ptCount val="1"/>
                <c:pt idx="0">
                  <c:v>Our rules</c:v>
                </c:pt>
              </c:strCache>
            </c:strRef>
          </c:tx>
          <c:spPr>
            <a:solidFill>
              <a:srgbClr val="1F8A70"/>
            </a:solidFill>
            <a:ln w="31750" cap="flat">
              <a:solidFill>
                <a:srgbClr val="1F8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52B1E"/>
              </a:solidFill>
              <a:ln w="9525" cap="flat">
                <a:solidFill>
                  <a:srgbClr val="1F8A70"/>
                </a:solidFill>
                <a:prstDash val="solid"/>
                <a:round/>
              </a:ln>
              <a:effectLst/>
            </c:spPr>
          </c:marker>
          <c:cat>
            <c:multiLvlStrRef>
              <c:f>Sheet1!$A$2:$A$33</c:f>
              <c:multiLvlStrCache>
                <c:ptCount val="32"/>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pt idx="30">
                    <c:v>2024</c:v>
                  </c:pt>
                  <c:pt idx="31">
                    <c:v>2025</c:v>
                  </c:pt>
                </c:lvl>
              </c:multiLvlStrCache>
            </c:multiLvlStrRef>
          </c:cat>
          <c:val>
            <c:numRef>
              <c:f>Sheet1!$E$2:$E$33</c:f>
              <c:numCache>
                <c:formatCode>General</c:formatCode>
                <c:ptCount val="32"/>
                <c:pt idx="0">
                  <c:v>0</c:v>
                </c:pt>
                <c:pt idx="1">
                  <c:v>0</c:v>
                </c:pt>
                <c:pt idx="2">
                  <c:v>0</c:v>
                </c:pt>
                <c:pt idx="3">
                  <c:v>0.4</c:v>
                </c:pt>
                <c:pt idx="4">
                  <c:v>0</c:v>
                </c:pt>
                <c:pt idx="5">
                  <c:v>0</c:v>
                </c:pt>
                <c:pt idx="6">
                  <c:v>0</c:v>
                </c:pt>
                <c:pt idx="7">
                  <c:v>0.2</c:v>
                </c:pt>
                <c:pt idx="8">
                  <c:v>0</c:v>
                </c:pt>
                <c:pt idx="9">
                  <c:v>0</c:v>
                </c:pt>
                <c:pt idx="10">
                  <c:v>0.2</c:v>
                </c:pt>
                <c:pt idx="11">
                  <c:v>0</c:v>
                </c:pt>
                <c:pt idx="12">
                  <c:v>0.1</c:v>
                </c:pt>
                <c:pt idx="13">
                  <c:v>0.2</c:v>
                </c:pt>
                <c:pt idx="14">
                  <c:v>0</c:v>
                </c:pt>
                <c:pt idx="15">
                  <c:v>0.1</c:v>
                </c:pt>
                <c:pt idx="16">
                  <c:v>0.1</c:v>
                </c:pt>
                <c:pt idx="17">
                  <c:v>0.1</c:v>
                </c:pt>
                <c:pt idx="18">
                  <c:v>0.1</c:v>
                </c:pt>
                <c:pt idx="19">
                  <c:v>0.1</c:v>
                </c:pt>
                <c:pt idx="20">
                  <c:v>0.1</c:v>
                </c:pt>
                <c:pt idx="21">
                  <c:v>0.1</c:v>
                </c:pt>
                <c:pt idx="22">
                  <c:v>0.1</c:v>
                </c:pt>
                <c:pt idx="23">
                  <c:v>0.1</c:v>
                </c:pt>
                <c:pt idx="24">
                  <c:v>0.1</c:v>
                </c:pt>
                <c:pt idx="25">
                  <c:v>0</c:v>
                </c:pt>
                <c:pt idx="26">
                  <c:v>0</c:v>
                </c:pt>
                <c:pt idx="27">
                  <c:v>0</c:v>
                </c:pt>
                <c:pt idx="28">
                  <c:v>0</c:v>
                </c:pt>
                <c:pt idx="29">
                  <c:v>0.1</c:v>
                </c:pt>
                <c:pt idx="30">
                  <c:v>0.1</c:v>
                </c:pt>
                <c:pt idx="31">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6350" cap="flat">
              <a:solidFill>
                <a:srgbClr val="E5E9EF"/>
              </a:solidFill>
              <a:prstDash val="solid"/>
              <a:round/>
            </a:ln>
          </c:spPr>
        </c:majorGridlines>
        <c:title>
          <c:tx>
            <c:rich>
              <a:bodyPr/>
              <a:lstStyle/>
              <a:p>
                <a:pPr>
                  <a:defRPr sz="1100" b="0" i="0" u="none" strike="noStrike">
                    <a:solidFill>
                      <a:srgbClr val="6B7A8F"/>
                    </a:solidFill>
                    <a:latin typeface="+mn-lt"/>
                  </a:defRPr>
                </a:pPr>
                <a:r>
                  <a:rPr sz="1100" b="0" i="0" u="none" strike="noStrike">
                    <a:solidFill>
                      <a:srgbClr val="6B7A8F"/>
                    </a:solidFill>
                    <a:latin typeface="+mn-lt"/>
                  </a:rPr>
                  <a:t>Wrong values per year</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4"/>
        <c:crosses val="autoZero"/>
        <c:crossBetween val="midCat"/>
        <c:majorUnit val="25"/>
      </c:valAx>
      <c:spPr>
        <a:noFill/>
        <a:ln>
          <a:noFill/>
        </a:ln>
        <a:effectLst/>
      </c:spPr>
    </c:plotArea>
    <c:legend>
      <c:legendPos val="b"/>
      <c:overlay val="0"/>
      <c:txPr>
        <a:bodyPr/>
        <a:lstStyle/>
        <a:p>
          <a:pPr>
            <a:defRPr sz="1100">
              <a:solidFill>
                <a:srgbClr val="2E40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NAMA from USI: Mohammad Javad Amin, Nava Biglar, Malihe Ghasemian and Emad Aghajani. Our challenge was the Neuron migration: rebuilding thirty years of insurance logic as code that an auditor can check. We show how we did it, and why the same method also worked on a task without any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NeuralWave Life wants to move its unit-linked policies from its legacy system Neuron to Lifeware. Neuron has run since 1994, first in COBOL and later in Java. The developers are gone and there is no source code. What we have is the export: 27 tables, 5,000 policies, almost seven million fund bookings, and the values Neuron calculated for part of the policies. And the bar is high: a value only counts if it matches to the cent and to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used AI as the detective, not as the calculator. One loader decodes all 27 tables from the old data dictionary. For each task we wrote the simplest rule and compared it with Neuron's numbers. Where it failed, machine learning told us why: a shallow decision tree on the wrong rows, a search over rounding and date conventions, and for the fund accounting a check of every single booking. Every finding became plain Python with exact decimals, so every cent can be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a method and not a one-off is the toolkit. Each tool answers a question that every migration has: where is the rule wrong, on which day did the system change, what do the differences say, which convention is it, and how do we learn when there are no targets. None of them knows anything about insurance. In notebook six each tool rediscovers one of our rules on its own, for example the conversion date in August 2007.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discovery: Neuron is really two systems. Until the conversion in August 2007, COBOL truncated every amount, computed the age as days since birth divided by 365, charged the management fee by the day, and let due dates drift from the 31st to the 28th. Neuron NG rounds half up, uses the nearest birthday and charges a twelfth of the yearly rate. We also found operational details: the charge run at 1:30 in the morning only sees units traded before that day, and each fund buys on its own first price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this matters? We ran our own code once more, but moved the conversion to 1900, so the Neuron NG rules apply to every year. Then every offer of the COBOL era is wrong, and the statements stay wrong long after 2007, because the old errors live on in the fund balances: still 17 percent in 2025. With our era rules both lines drop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rules we reach between 99.7 and 100 percent on every task. For surrender values and statements we recalculate the whole fund accounting ourselves, more than five million bookings, and every one of them matches Neuron except three that were changed by hand. In fact, every remaining difference is a manual correction, and our outlier detection for task five finds them automatically: 55 values, including all 38 from the official list and 17 that nobody had listed. Tasks zero to five run in about a minute and a half, with one small module per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came the surprise: a tax audit, and no target values at all. We kept the same loop and changed the evidence. Neuron's own tax bookings tell us which tax applied to which payout, so they become labels: our Swiss rule, for example, agrees with 99.9 percent of them. The two examples in the task text became anchors: a convention search finds the only combination of rules that reproduces both to the cent. And every one of the 793 taxes Neuron booked gets an amount. The few points we could not confirm without targets are listed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no model runs in our submission, every rule is plain code backed by an exact test, and the discovery tools know nothing about insurance, so they are ready for the next migration.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8046720" cy="777240"/>
          </a:xfrm>
          <a:prstGeom prst="rect">
            <a:avLst/>
          </a:prstGeom>
          <a:noFill/>
          <a:ln/>
        </p:spPr>
        <p:txBody>
          <a:bodyPr wrap="square" rtlCol="0"/>
          <a:lstStyle>
            <a:lvl1pPr algn="l" indent="0" marL="0">
              <a:buNone/>
              <a:defRPr lang="en-US" sz="4000" b="1" dirty="0">
                <a:solidFill>
                  <a:schemeClr val="bg1"/>
                </a:solidFill>
                <a:latin typeface="Times New Roman" pitchFamily="34" charset="0"/>
                <a:ea typeface="Times New Roman" pitchFamily="34" charset="-122"/>
                <a:cs typeface="Times New Roman" pitchFamily="34" charset="-120"/>
              </a:defRPr>
            </a:lvl1pPr>
          </a:lstStyle>
          <a:p>
            <a:pPr algn="l" indent="0" marL="0">
              <a:buNone/>
            </a:pPr>
            <a:endParaRPr lang="en-US" sz="4000" dirty="0"/>
          </a:p>
        </p:txBody>
      </p:sp>
      <p:sp>
        <p:nvSpPr>
          <p:cNvPr id="3" name="Text 0"/>
          <p:cNvSpPr/>
          <p:nvPr>
            <p:ph idx="101" type="body" hasCustomPrompt="1"/>
          </p:nvPr>
        </p:nvSpPr>
        <p:spPr>
          <a:xfrm>
            <a:off x="548640" y="2697480"/>
            <a:ext cx="8046720" cy="6400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1"/>
                </a:solidFill>
                <a:latin typeface="Times New Roman" pitchFamily="34" charset="0"/>
                <a:ea typeface="Times New Roman" pitchFamily="34" charset="-122"/>
                <a:cs typeface="Times New Roman" pitchFamily="34" charset="-120"/>
              </a:defRPr>
            </a:lvl1pPr>
          </a:lstStyle>
          <a:p>
            <a:pPr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Team NAMA  ·  The Neuron Migration</a:t>
            </a:r>
            <a:endParaRPr lang="en-US" sz="1000" dirty="0"/>
          </a:p>
        </p:txBody>
      </p:sp>
      <p:pic>
        <p:nvPicPr>
          <p:cNvPr id="4" name="Image 0" descr="USI logo">    </p:cNvPr>
          <p:cNvPicPr>
            <a:picLocks noChangeAspect="1"/>
          </p:cNvPicPr>
          <p:nvPr/>
        </p:nvPicPr>
        <p:blipFill>
          <a:blip r:embed="rId1"/>
          <a:stretch>
            <a:fillRect/>
          </a:stretch>
        </p:blipFill>
        <p:spPr>
          <a:xfrm>
            <a:off x="7882128" y="4617720"/>
            <a:ext cx="822960" cy="462686"/>
          </a:xfrm>
          <a:prstGeom prst="rect">
            <a:avLst/>
          </a:prstGeom>
        </p:spPr>
      </p:pic>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411480"/>
            <a:ext cx="2377440" cy="1417320"/>
          </a:xfrm>
          <a:prstGeom prst="roundRect">
            <a:avLst>
              <a:gd name="adj" fmla="val 5161"/>
            </a:avLst>
          </a:prstGeom>
          <a:solidFill>
            <a:schemeClr val="bg1"/>
          </a:solidFill>
          <a:ln w="12700">
            <a:solidFill>
              <a:schemeClr val="bg1"/>
            </a:solidFill>
            <a:prstDash val="solid"/>
          </a:ln>
        </p:spPr>
      </p:sp>
      <p:pic>
        <p:nvPicPr>
          <p:cNvPr id="3" name="USI logo" descr="Università della Svizzera italiana logo">    </p:cNvPr>
          <p:cNvPicPr>
            <a:picLocks noChangeAspect="1"/>
          </p:cNvPicPr>
          <p:nvPr/>
        </p:nvPicPr>
        <p:blipFill>
          <a:blip r:embed="rId1"/>
          <a:stretch>
            <a:fillRect/>
          </a:stretch>
        </p:blipFill>
        <p:spPr>
          <a:xfrm>
            <a:off x="640080" y="502920"/>
            <a:ext cx="2194560" cy="1234440"/>
          </a:xfrm>
          <a:prstGeom prst="rect">
            <a:avLst/>
          </a:prstGeom>
        </p:spPr>
      </p:pic>
      <p:sp>
        <p:nvSpPr>
          <p:cNvPr id="4" name="Event"/>
          <p:cNvSpPr txBox="1"/>
          <p:nvPr/>
        </p:nvSpPr>
        <p:spPr>
          <a:xfrm>
            <a:off x="4023360" y="548640"/>
            <a:ext cx="4572000" cy="320040"/>
          </a:xfrm>
          <a:prstGeom prst="rect">
            <a:avLst/>
          </a:prstGeom>
          <a:noFill/>
          <a:ln/>
        </p:spPr>
        <p:txBody>
          <a:bodyPr wrap="square" lIns="0" tIns="0" rIns="0" bIns="0" rtlCol="0" anchor="ctr"/>
          <a:lstStyle/>
          <a:p>
            <a:pPr algn="r" indent="0" marL="0">
              <a:buNone/>
            </a:pPr>
            <a:r>
              <a:rPr lang="en-US" sz="1200" dirty="0">
                <a:solidFill>
                  <a:schemeClr val="accent6"/>
                </a:solidFill>
              </a:rPr>
              <a:t>Lifeware Challenge  ·  Neural Wave AI Hackathon</a:t>
            </a:r>
            <a:endParaRPr lang="en-US" sz="1200" dirty="0"/>
          </a:p>
        </p:txBody>
      </p:sp>
      <p:sp>
        <p:nvSpPr>
          <p:cNvPr id="5" name="Text 0"/>
          <p:cNvSpPr/>
          <p:nvPr>
            <p:ph idx="100" type="title" hasCustomPrompt="1"/>
          </p:nvPr>
        </p:nvSpPr>
        <p:spPr>
          <a:xfrm>
            <a:off x="548640" y="1874520"/>
            <a:ext cx="8046720" cy="777240"/>
          </a:xfrm>
          <a:prstGeom prst="rect">
            <a:avLst/>
          </a:prstGeom>
          <a:noFill/>
          <a:ln/>
        </p:spPr>
        <p:txBody>
          <a:bodyPr wrap="square" lIns="0" tIns="0" rIns="0" bIns="0" rtlCol="0" anchor="b"/>
          <a:lstStyle/>
          <a:p>
            <a:pPr algn="l" indent="0" marL="0">
              <a:buNone/>
            </a:pPr>
            <a:r>
              <a:rPr lang="en-US" sz="4000" b="1" dirty="0">
                <a:solidFill>
                  <a:schemeClr val="bg1"/>
                </a:solidFill>
                <a:latin typeface="Times New Roman" pitchFamily="34" charset="0"/>
                <a:ea typeface="Times New Roman" pitchFamily="34" charset="-122"/>
                <a:cs typeface="Times New Roman" pitchFamily="34" charset="-120"/>
              </a:rPr>
              <a:t>The Neuron Migration</a:t>
            </a:r>
            <a:endParaRPr lang="en-US" sz="4000" dirty="0"/>
          </a:p>
        </p:txBody>
      </p:sp>
      <p:sp>
        <p:nvSpPr>
          <p:cNvPr id="6" name="Text 0"/>
          <p:cNvSpPr/>
          <p:nvPr>
            <p:ph idx="101" type="body" hasCustomPrompt="1"/>
          </p:nvPr>
        </p:nvSpPr>
        <p:spPr>
          <a:xfrm>
            <a:off x="548640" y="2697480"/>
            <a:ext cx="8046720" cy="640080"/>
          </a:xfrm>
          <a:prstGeom prst="rect">
            <a:avLst/>
          </a:prstGeom>
          <a:noFill/>
          <a:ln/>
        </p:spPr>
        <p:txBody>
          <a:bodyPr wrap="square" lIns="0" tIns="0" rIns="0" bIns="0" rtlCol="0" anchor="t"/>
          <a:lstStyle/>
          <a:p>
            <a:pPr algn="l" indent="0" marL="0">
              <a:buNone/>
            </a:pPr>
            <a:r>
              <a:rPr lang="en-US" sz="1800" dirty="0">
                <a:solidFill>
                  <a:schemeClr val="accent6"/>
                </a:solidFill>
              </a:rPr>
              <a:t>Reverse-engineering 30 years of insurance logic into code an auditor can check</a:t>
            </a:r>
            <a:endParaRPr lang="en-US" sz="1800" dirty="0"/>
          </a:p>
        </p:txBody>
      </p:sp>
      <p:sp>
        <p:nvSpPr>
          <p:cNvPr id="7" name="Team name"/>
          <p:cNvSpPr txBox="1"/>
          <p:nvPr/>
        </p:nvSpPr>
        <p:spPr>
          <a:xfrm>
            <a:off x="548640" y="3749040"/>
            <a:ext cx="365760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TEAM NAMA</a:t>
            </a:r>
            <a:endParaRPr lang="en-US" sz="1400" dirty="0"/>
          </a:p>
        </p:txBody>
      </p:sp>
      <p:sp>
        <p:nvSpPr>
          <p:cNvPr id="8" name="Members"/>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600" dirty="0">
                <a:solidFill>
                  <a:schemeClr val="bg1"/>
                </a:solidFill>
              </a:rPr>
              <a:t>Mohammad Javad Amin  ·  Nava Biglar  ·  Malihe Ghasemian  ·  Emad Aghajani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Match Neuron to the cent, without its code</a:t>
            </a:r>
            <a:endParaRPr lang="en-US" sz="3000" dirty="0"/>
          </a:p>
        </p:txBody>
      </p:sp>
      <p:sp>
        <p:nvSpPr>
          <p:cNvPr id="3" name="Story"/>
          <p:cNvSpPr txBox="1"/>
          <p:nvPr/>
        </p:nvSpPr>
        <p:spPr>
          <a:xfrm>
            <a:off x="457200" y="1188720"/>
            <a:ext cx="39319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NeuralWave Life moves its unit-linked policies from the legacy system Neuron to Lifeware</a:t>
            </a:r>
            <a:endParaRPr lang="en-US" sz="1600" dirty="0"/>
          </a:p>
          <a:p>
            <a:pPr marL="342900" indent="-342900">
              <a:spcAft>
                <a:spcPts val="1000"/>
              </a:spcAft>
              <a:buSzPct val="100000"/>
              <a:buChar char="•"/>
            </a:pPr>
            <a:r>
              <a:rPr lang="en-US" sz="1600" dirty="0">
                <a:solidFill>
                  <a:schemeClr val="tx1"/>
                </a:solidFill>
              </a:rPr>
              <a:t>Neuron grew from COBOL to Java since 1994; the developers are gone, the documentation is incomplete</a:t>
            </a:r>
            <a:endParaRPr lang="en-US" sz="1600" dirty="0"/>
          </a:p>
          <a:p>
            <a:pPr marL="342900" indent="-342900">
              <a:spcAft>
                <a:spcPts val="1000"/>
              </a:spcAft>
              <a:buSzPct val="100000"/>
              <a:buChar char="•"/>
            </a:pPr>
            <a:r>
              <a:rPr lang="en-US" sz="1600" dirty="0">
                <a:solidFill>
                  <a:schemeClr val="tx1"/>
                </a:solidFill>
              </a:rPr>
              <a:t>Only the data is left, and Neuron's results for part of the policies</a:t>
            </a:r>
            <a:endParaRPr lang="en-US" sz="1600" dirty="0"/>
          </a:p>
        </p:txBody>
      </p:sp>
      <p:sp>
        <p:nvSpPr>
          <p:cNvPr id="4" name="Scoring rule"/>
          <p:cNvSpPr txBox="1"/>
          <p:nvPr/>
        </p:nvSpPr>
        <p:spPr>
          <a:xfrm>
            <a:off x="457200" y="3886200"/>
            <a:ext cx="3931920" cy="548640"/>
          </a:xfrm>
          <a:prstGeom prst="rect">
            <a:avLst/>
          </a:prstGeom>
          <a:noFill/>
          <a:ln/>
        </p:spPr>
        <p:txBody>
          <a:bodyPr wrap="square" lIns="0" tIns="0" rIns="0" bIns="0" rtlCol="0" anchor="ctr"/>
          <a:lstStyle/>
          <a:p>
            <a:pPr indent="0" marL="0">
              <a:buNone/>
            </a:pPr>
            <a:r>
              <a:rPr lang="en-US" sz="1500" i="1" dirty="0">
                <a:solidFill>
                  <a:schemeClr val="accent1"/>
                </a:solidFill>
              </a:rPr>
              <a:t>A value counts only if it is exact: to the cent and to the day.</a:t>
            </a:r>
            <a:endParaRPr lang="en-US" sz="1500" dirty="0"/>
          </a:p>
        </p:txBody>
      </p:sp>
      <p:sp>
        <p:nvSpPr>
          <p:cNvPr id="5" name="Stat card 1"/>
          <p:cNvSpPr/>
          <p:nvPr/>
        </p:nvSpPr>
        <p:spPr>
          <a:xfrm>
            <a:off x="4754880" y="1188720"/>
            <a:ext cx="1874520" cy="1463040"/>
          </a:xfrm>
          <a:prstGeom prst="roundRect">
            <a:avLst>
              <a:gd name="adj" fmla="val 5000"/>
            </a:avLst>
          </a:prstGeom>
          <a:solidFill>
            <a:schemeClr val="bg2"/>
          </a:solidFill>
          <a:ln w="12700">
            <a:solidFill>
              <a:schemeClr val="bg2"/>
            </a:solidFill>
            <a:prstDash val="solid"/>
          </a:ln>
        </p:spPr>
      </p:sp>
      <p:sp>
        <p:nvSpPr>
          <p:cNvPr id="6" name="Stat value 1"/>
          <p:cNvSpPr txBox="1"/>
          <p:nvPr/>
        </p:nvSpPr>
        <p:spPr>
          <a:xfrm>
            <a:off x="4892040" y="1371600"/>
            <a:ext cx="1600200" cy="685800"/>
          </a:xfrm>
          <a:prstGeom prst="rect">
            <a:avLst/>
          </a:prstGeom>
          <a:noFill/>
          <a:ln/>
        </p:spPr>
        <p:txBody>
          <a:bodyPr wrap="square" lIns="0" tIns="0" rIns="0" bIns="0" rtlCol="0" anchor="ctr"/>
          <a:lstStyle/>
          <a:p>
            <a:pPr indent="0" marL="0">
              <a:buNone/>
            </a:pPr>
            <a:r>
              <a:rPr lang="en-US" sz="3600" b="1" dirty="0">
                <a:solidFill>
                  <a:schemeClr val="tx1"/>
                </a:solidFill>
                <a:latin typeface="Times New Roman" pitchFamily="34" charset="0"/>
                <a:ea typeface="Times New Roman" pitchFamily="34" charset="-122"/>
                <a:cs typeface="Times New Roman" pitchFamily="34" charset="-120"/>
              </a:rPr>
              <a:t>5,000</a:t>
            </a:r>
            <a:endParaRPr lang="en-US" sz="3600" dirty="0"/>
          </a:p>
        </p:txBody>
      </p:sp>
      <p:sp>
        <p:nvSpPr>
          <p:cNvPr id="7" name="Stat label 1"/>
          <p:cNvSpPr txBox="1"/>
          <p:nvPr/>
        </p:nvSpPr>
        <p:spPr>
          <a:xfrm>
            <a:off x="4892040" y="2057400"/>
            <a:ext cx="1600200" cy="411480"/>
          </a:xfrm>
          <a:prstGeom prst="rect">
            <a:avLst/>
          </a:prstGeom>
          <a:noFill/>
          <a:ln/>
        </p:spPr>
        <p:txBody>
          <a:bodyPr wrap="square" lIns="0" tIns="0" rIns="0" bIns="0" rtlCol="0" anchor="ctr"/>
          <a:lstStyle/>
          <a:p>
            <a:pPr indent="0" marL="0">
              <a:buNone/>
            </a:pPr>
            <a:r>
              <a:rPr lang="en-US" sz="1300" dirty="0">
                <a:solidFill>
                  <a:schemeClr val="tx2"/>
                </a:solidFill>
              </a:rPr>
              <a:t>policies since 1994</a:t>
            </a:r>
            <a:endParaRPr lang="en-US" sz="1300" dirty="0"/>
          </a:p>
        </p:txBody>
      </p:sp>
      <p:sp>
        <p:nvSpPr>
          <p:cNvPr id="8" name="Stat card 2"/>
          <p:cNvSpPr/>
          <p:nvPr/>
        </p:nvSpPr>
        <p:spPr>
          <a:xfrm>
            <a:off x="6766560" y="1188720"/>
            <a:ext cx="1874520" cy="1463040"/>
          </a:xfrm>
          <a:prstGeom prst="roundRect">
            <a:avLst>
              <a:gd name="adj" fmla="val 5000"/>
            </a:avLst>
          </a:prstGeom>
          <a:solidFill>
            <a:schemeClr val="bg2"/>
          </a:solidFill>
          <a:ln w="12700">
            <a:solidFill>
              <a:schemeClr val="bg2"/>
            </a:solidFill>
            <a:prstDash val="solid"/>
          </a:ln>
        </p:spPr>
      </p:sp>
      <p:sp>
        <p:nvSpPr>
          <p:cNvPr id="9" name="Stat value 2"/>
          <p:cNvSpPr txBox="1"/>
          <p:nvPr/>
        </p:nvSpPr>
        <p:spPr>
          <a:xfrm>
            <a:off x="6903720" y="1371600"/>
            <a:ext cx="1600200" cy="685800"/>
          </a:xfrm>
          <a:prstGeom prst="rect">
            <a:avLst/>
          </a:prstGeom>
          <a:noFill/>
          <a:ln/>
        </p:spPr>
        <p:txBody>
          <a:bodyPr wrap="square" lIns="0" tIns="0" rIns="0" bIns="0" rtlCol="0" anchor="ctr"/>
          <a:lstStyle/>
          <a:p>
            <a:pPr indent="0" marL="0">
              <a:buNone/>
            </a:pPr>
            <a:r>
              <a:rPr lang="en-US" sz="3600" b="1" dirty="0">
                <a:solidFill>
                  <a:schemeClr val="tx1"/>
                </a:solidFill>
                <a:latin typeface="Times New Roman" pitchFamily="34" charset="0"/>
                <a:ea typeface="Times New Roman" pitchFamily="34" charset="-122"/>
                <a:cs typeface="Times New Roman" pitchFamily="34" charset="-120"/>
              </a:rPr>
              <a:t>6.8 M</a:t>
            </a:r>
            <a:endParaRPr lang="en-US" sz="3600" dirty="0"/>
          </a:p>
        </p:txBody>
      </p:sp>
      <p:sp>
        <p:nvSpPr>
          <p:cNvPr id="10" name="Stat label 2"/>
          <p:cNvSpPr txBox="1"/>
          <p:nvPr/>
        </p:nvSpPr>
        <p:spPr>
          <a:xfrm>
            <a:off x="6903720" y="2057400"/>
            <a:ext cx="1600200" cy="411480"/>
          </a:xfrm>
          <a:prstGeom prst="rect">
            <a:avLst/>
          </a:prstGeom>
          <a:noFill/>
          <a:ln/>
        </p:spPr>
        <p:txBody>
          <a:bodyPr wrap="square" lIns="0" tIns="0" rIns="0" bIns="0" rtlCol="0" anchor="ctr"/>
          <a:lstStyle/>
          <a:p>
            <a:pPr indent="0" marL="0">
              <a:buNone/>
            </a:pPr>
            <a:r>
              <a:rPr lang="en-US" sz="1300" dirty="0">
                <a:solidFill>
                  <a:schemeClr val="tx2"/>
                </a:solidFill>
              </a:rPr>
              <a:t>unit bookings</a:t>
            </a:r>
            <a:endParaRPr lang="en-US" sz="1300" dirty="0"/>
          </a:p>
        </p:txBody>
      </p:sp>
      <p:sp>
        <p:nvSpPr>
          <p:cNvPr id="11" name="Stat card 3"/>
          <p:cNvSpPr/>
          <p:nvPr/>
        </p:nvSpPr>
        <p:spPr>
          <a:xfrm>
            <a:off x="4754880" y="2834640"/>
            <a:ext cx="1874520" cy="1463040"/>
          </a:xfrm>
          <a:prstGeom prst="roundRect">
            <a:avLst>
              <a:gd name="adj" fmla="val 5000"/>
            </a:avLst>
          </a:prstGeom>
          <a:solidFill>
            <a:schemeClr val="bg2"/>
          </a:solidFill>
          <a:ln w="12700">
            <a:solidFill>
              <a:schemeClr val="bg2"/>
            </a:solidFill>
            <a:prstDash val="solid"/>
          </a:ln>
        </p:spPr>
      </p:sp>
      <p:sp>
        <p:nvSpPr>
          <p:cNvPr id="12" name="Stat value 3"/>
          <p:cNvSpPr txBox="1"/>
          <p:nvPr/>
        </p:nvSpPr>
        <p:spPr>
          <a:xfrm>
            <a:off x="4892040" y="3017520"/>
            <a:ext cx="1600200" cy="685800"/>
          </a:xfrm>
          <a:prstGeom prst="rect">
            <a:avLst/>
          </a:prstGeom>
          <a:noFill/>
          <a:ln/>
        </p:spPr>
        <p:txBody>
          <a:bodyPr wrap="square" lIns="0" tIns="0" rIns="0" bIns="0" rtlCol="0" anchor="ctr"/>
          <a:lstStyle/>
          <a:p>
            <a:pPr indent="0" marL="0">
              <a:buNone/>
            </a:pPr>
            <a:r>
              <a:rPr lang="en-US" sz="3600" b="1" dirty="0">
                <a:solidFill>
                  <a:schemeClr val="tx1"/>
                </a:solidFill>
                <a:latin typeface="Times New Roman" pitchFamily="34" charset="0"/>
                <a:ea typeface="Times New Roman" pitchFamily="34" charset="-122"/>
                <a:cs typeface="Times New Roman" pitchFamily="34" charset="-120"/>
              </a:rPr>
              <a:t>27</a:t>
            </a:r>
            <a:endParaRPr lang="en-US" sz="3600" dirty="0"/>
          </a:p>
        </p:txBody>
      </p:sp>
      <p:sp>
        <p:nvSpPr>
          <p:cNvPr id="13" name="Stat label 3"/>
          <p:cNvSpPr txBox="1"/>
          <p:nvPr/>
        </p:nvSpPr>
        <p:spPr>
          <a:xfrm>
            <a:off x="4892040" y="3703320"/>
            <a:ext cx="1600200" cy="411480"/>
          </a:xfrm>
          <a:prstGeom prst="rect">
            <a:avLst/>
          </a:prstGeom>
          <a:noFill/>
          <a:ln/>
        </p:spPr>
        <p:txBody>
          <a:bodyPr wrap="square" lIns="0" tIns="0" rIns="0" bIns="0" rtlCol="0" anchor="ctr"/>
          <a:lstStyle/>
          <a:p>
            <a:pPr indent="0" marL="0">
              <a:buNone/>
            </a:pPr>
            <a:r>
              <a:rPr lang="en-US" sz="1300" dirty="0">
                <a:solidFill>
                  <a:schemeClr val="tx2"/>
                </a:solidFill>
              </a:rPr>
              <a:t>legacy tables</a:t>
            </a:r>
            <a:endParaRPr lang="en-US" sz="1300" dirty="0"/>
          </a:p>
        </p:txBody>
      </p:sp>
      <p:sp>
        <p:nvSpPr>
          <p:cNvPr id="14" name="Stat card 4"/>
          <p:cNvSpPr/>
          <p:nvPr/>
        </p:nvSpPr>
        <p:spPr>
          <a:xfrm>
            <a:off x="6766560" y="2834640"/>
            <a:ext cx="1874520" cy="1463040"/>
          </a:xfrm>
          <a:prstGeom prst="roundRect">
            <a:avLst>
              <a:gd name="adj" fmla="val 5000"/>
            </a:avLst>
          </a:prstGeom>
          <a:solidFill>
            <a:schemeClr val="bg2"/>
          </a:solidFill>
          <a:ln w="12700">
            <a:solidFill>
              <a:schemeClr val="bg2"/>
            </a:solidFill>
            <a:prstDash val="solid"/>
          </a:ln>
        </p:spPr>
      </p:sp>
      <p:sp>
        <p:nvSpPr>
          <p:cNvPr id="15" name="Stat value 4"/>
          <p:cNvSpPr txBox="1"/>
          <p:nvPr/>
        </p:nvSpPr>
        <p:spPr>
          <a:xfrm>
            <a:off x="6903720" y="3017520"/>
            <a:ext cx="1600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Times New Roman" pitchFamily="34" charset="0"/>
                <a:ea typeface="Times New Roman" pitchFamily="34" charset="-122"/>
                <a:cs typeface="Times New Roman" pitchFamily="34" charset="-120"/>
              </a:rPr>
              <a:t>0</a:t>
            </a:r>
            <a:endParaRPr lang="en-US" sz="3600" dirty="0"/>
          </a:p>
        </p:txBody>
      </p:sp>
      <p:sp>
        <p:nvSpPr>
          <p:cNvPr id="16" name="Stat label 4"/>
          <p:cNvSpPr txBox="1"/>
          <p:nvPr/>
        </p:nvSpPr>
        <p:spPr>
          <a:xfrm>
            <a:off x="6903720" y="3703320"/>
            <a:ext cx="1600200" cy="411480"/>
          </a:xfrm>
          <a:prstGeom prst="rect">
            <a:avLst/>
          </a:prstGeom>
          <a:noFill/>
          <a:ln/>
        </p:spPr>
        <p:txBody>
          <a:bodyPr wrap="square" lIns="0" tIns="0" rIns="0" bIns="0" rtlCol="0" anchor="ctr"/>
          <a:lstStyle/>
          <a:p>
            <a:pPr indent="0" marL="0">
              <a:buNone/>
            </a:pPr>
            <a:r>
              <a:rPr lang="en-US" sz="1300" dirty="0">
                <a:solidFill>
                  <a:schemeClr val="tx2"/>
                </a:solidFill>
              </a:rPr>
              <a:t>lines of source code</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AI is the detective, code is the answer</a:t>
            </a:r>
            <a:endParaRPr lang="en-US" sz="3000" dirty="0"/>
          </a:p>
        </p:txBody>
      </p:sp>
      <p:sp>
        <p:nvSpPr>
          <p:cNvPr id="3" name="Step circle 1"/>
          <p:cNvSpPr/>
          <p:nvPr/>
        </p:nvSpPr>
        <p:spPr>
          <a:xfrm>
            <a:off x="1051560" y="1188720"/>
            <a:ext cx="731520" cy="731520"/>
          </a:xfrm>
          <a:prstGeom prst="ellipse">
            <a:avLst/>
          </a:prstGeom>
          <a:solidFill>
            <a:schemeClr val="tx1"/>
          </a:solidFill>
          <a:ln w="12700">
            <a:solidFill>
              <a:schemeClr val="tx1"/>
            </a:solidFill>
            <a:prstDash val="solid"/>
          </a:ln>
        </p:spPr>
      </p:sp>
      <p:pic>
        <p:nvPicPr>
          <p:cNvPr id="4" name="Step icon 1" descr="Decode">    </p:cNvPr>
          <p:cNvPicPr>
            <a:picLocks noChangeAspect="1"/>
          </p:cNvPicPr>
          <p:nvPr/>
        </p:nvPicPr>
        <p:blipFill>
          <a:blip r:embed="rId1"/>
          <a:stretch>
            <a:fillRect/>
          </a:stretch>
        </p:blipFill>
        <p:spPr>
          <a:xfrm>
            <a:off x="1234440" y="1371600"/>
            <a:ext cx="365760" cy="365760"/>
          </a:xfrm>
          <a:prstGeom prst="rect">
            <a:avLst/>
          </a:prstGeom>
        </p:spPr>
      </p:pic>
      <p:sp>
        <p:nvSpPr>
          <p:cNvPr id="5" name="Arrow 1"/>
          <p:cNvSpPr/>
          <p:nvPr/>
        </p:nvSpPr>
        <p:spPr>
          <a:xfrm>
            <a:off x="2240280" y="1417320"/>
            <a:ext cx="228600" cy="274320"/>
          </a:xfrm>
          <a:prstGeom prst="chevron">
            <a:avLst/>
          </a:prstGeom>
          <a:solidFill>
            <a:schemeClr val="accent6"/>
          </a:solidFill>
          <a:ln w="12700">
            <a:solidFill>
              <a:schemeClr val="accent6"/>
            </a:solidFill>
            <a:prstDash val="solid"/>
          </a:ln>
        </p:spPr>
      </p:sp>
      <p:sp>
        <p:nvSpPr>
          <p:cNvPr id="6" name="Step title 1"/>
          <p:cNvSpPr txBox="1"/>
          <p:nvPr/>
        </p:nvSpPr>
        <p:spPr>
          <a:xfrm>
            <a:off x="45720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1  Decode</a:t>
            </a:r>
            <a:endParaRPr lang="en-US" sz="1600" dirty="0"/>
          </a:p>
        </p:txBody>
      </p:sp>
      <p:sp>
        <p:nvSpPr>
          <p:cNvPr id="7" name="Step text 1"/>
          <p:cNvSpPr txBox="1"/>
          <p:nvPr/>
        </p:nvSpPr>
        <p:spPr>
          <a:xfrm>
            <a:off x="45720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One loader for all 27 tables, driven by the data dictionary NRDICT</a:t>
            </a:r>
            <a:endParaRPr lang="en-US" sz="1400" dirty="0"/>
          </a:p>
        </p:txBody>
      </p:sp>
      <p:sp>
        <p:nvSpPr>
          <p:cNvPr id="8" name="Step circle 2"/>
          <p:cNvSpPr/>
          <p:nvPr/>
        </p:nvSpPr>
        <p:spPr>
          <a:xfrm>
            <a:off x="3154680" y="1188720"/>
            <a:ext cx="731520" cy="731520"/>
          </a:xfrm>
          <a:prstGeom prst="ellipse">
            <a:avLst/>
          </a:prstGeom>
          <a:solidFill>
            <a:schemeClr val="tx1"/>
          </a:solidFill>
          <a:ln w="12700">
            <a:solidFill>
              <a:schemeClr val="tx1"/>
            </a:solidFill>
            <a:prstDash val="solid"/>
          </a:ln>
        </p:spPr>
      </p:sp>
      <p:pic>
        <p:nvPicPr>
          <p:cNvPr id="9" name="Step icon 2" descr="Guess">    </p:cNvPr>
          <p:cNvPicPr>
            <a:picLocks noChangeAspect="1"/>
          </p:cNvPicPr>
          <p:nvPr/>
        </p:nvPicPr>
        <p:blipFill>
          <a:blip r:embed="rId2"/>
          <a:stretch>
            <a:fillRect/>
          </a:stretch>
        </p:blipFill>
        <p:spPr>
          <a:xfrm>
            <a:off x="3337560" y="1371600"/>
            <a:ext cx="365760" cy="365760"/>
          </a:xfrm>
          <a:prstGeom prst="rect">
            <a:avLst/>
          </a:prstGeom>
        </p:spPr>
      </p:pic>
      <p:sp>
        <p:nvSpPr>
          <p:cNvPr id="10" name="Arrow 2"/>
          <p:cNvSpPr/>
          <p:nvPr/>
        </p:nvSpPr>
        <p:spPr>
          <a:xfrm>
            <a:off x="4343400" y="1417320"/>
            <a:ext cx="228600" cy="274320"/>
          </a:xfrm>
          <a:prstGeom prst="chevron">
            <a:avLst/>
          </a:prstGeom>
          <a:solidFill>
            <a:schemeClr val="accent6"/>
          </a:solidFill>
          <a:ln w="12700">
            <a:solidFill>
              <a:schemeClr val="accent6"/>
            </a:solidFill>
            <a:prstDash val="solid"/>
          </a:ln>
        </p:spPr>
      </p:sp>
      <p:sp>
        <p:nvSpPr>
          <p:cNvPr id="11" name="Step title 2"/>
          <p:cNvSpPr txBox="1"/>
          <p:nvPr/>
        </p:nvSpPr>
        <p:spPr>
          <a:xfrm>
            <a:off x="256032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2  Guess</a:t>
            </a:r>
            <a:endParaRPr lang="en-US" sz="1600" dirty="0"/>
          </a:p>
        </p:txBody>
      </p:sp>
      <p:sp>
        <p:nvSpPr>
          <p:cNvPr id="12" name="Step text 2"/>
          <p:cNvSpPr txBox="1"/>
          <p:nvPr/>
        </p:nvSpPr>
        <p:spPr>
          <a:xfrm>
            <a:off x="256032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The simplest rule the task text suggests</a:t>
            </a:r>
            <a:endParaRPr lang="en-US" sz="1400" dirty="0"/>
          </a:p>
        </p:txBody>
      </p:sp>
      <p:sp>
        <p:nvSpPr>
          <p:cNvPr id="13" name="Step circle 3"/>
          <p:cNvSpPr/>
          <p:nvPr/>
        </p:nvSpPr>
        <p:spPr>
          <a:xfrm>
            <a:off x="5257800" y="1188720"/>
            <a:ext cx="731520" cy="731520"/>
          </a:xfrm>
          <a:prstGeom prst="ellipse">
            <a:avLst/>
          </a:prstGeom>
          <a:solidFill>
            <a:schemeClr val="accent1"/>
          </a:solidFill>
          <a:ln w="12700">
            <a:solidFill>
              <a:schemeClr val="accent1"/>
            </a:solidFill>
            <a:prstDash val="solid"/>
          </a:ln>
        </p:spPr>
      </p:sp>
      <p:pic>
        <p:nvPicPr>
          <p:cNvPr id="14" name="Step icon 3" descr="Explain the misses">    </p:cNvPr>
          <p:cNvPicPr>
            <a:picLocks noChangeAspect="1"/>
          </p:cNvPicPr>
          <p:nvPr/>
        </p:nvPicPr>
        <p:blipFill>
          <a:blip r:embed="rId3"/>
          <a:stretch>
            <a:fillRect/>
          </a:stretch>
        </p:blipFill>
        <p:spPr>
          <a:xfrm>
            <a:off x="5440680" y="1371600"/>
            <a:ext cx="365760" cy="365760"/>
          </a:xfrm>
          <a:prstGeom prst="rect">
            <a:avLst/>
          </a:prstGeom>
        </p:spPr>
      </p:pic>
      <p:sp>
        <p:nvSpPr>
          <p:cNvPr id="15" name="Arrow 3"/>
          <p:cNvSpPr/>
          <p:nvPr/>
        </p:nvSpPr>
        <p:spPr>
          <a:xfrm>
            <a:off x="6446520" y="1417320"/>
            <a:ext cx="228600" cy="274320"/>
          </a:xfrm>
          <a:prstGeom prst="chevron">
            <a:avLst/>
          </a:prstGeom>
          <a:solidFill>
            <a:schemeClr val="accent6"/>
          </a:solidFill>
          <a:ln w="12700">
            <a:solidFill>
              <a:schemeClr val="accent6"/>
            </a:solidFill>
            <a:prstDash val="solid"/>
          </a:ln>
        </p:spPr>
      </p:sp>
      <p:sp>
        <p:nvSpPr>
          <p:cNvPr id="16" name="Step title 3"/>
          <p:cNvSpPr txBox="1"/>
          <p:nvPr/>
        </p:nvSpPr>
        <p:spPr>
          <a:xfrm>
            <a:off x="466344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3  Explain the misses</a:t>
            </a:r>
            <a:endParaRPr lang="en-US" sz="1600" dirty="0"/>
          </a:p>
        </p:txBody>
      </p:sp>
      <p:sp>
        <p:nvSpPr>
          <p:cNvPr id="17" name="Step text 3"/>
          <p:cNvSpPr txBox="1"/>
          <p:nvPr/>
        </p:nvSpPr>
        <p:spPr>
          <a:xfrm>
            <a:off x="466344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Decision-tree rule finder, convention search, booking-by-booking checks</a:t>
            </a:r>
            <a:endParaRPr lang="en-US" sz="1400" dirty="0"/>
          </a:p>
        </p:txBody>
      </p:sp>
      <p:sp>
        <p:nvSpPr>
          <p:cNvPr id="18" name="Step circle 4"/>
          <p:cNvSpPr/>
          <p:nvPr/>
        </p:nvSpPr>
        <p:spPr>
          <a:xfrm>
            <a:off x="7360920" y="1188720"/>
            <a:ext cx="731520" cy="731520"/>
          </a:xfrm>
          <a:prstGeom prst="ellipse">
            <a:avLst/>
          </a:prstGeom>
          <a:solidFill>
            <a:schemeClr val="tx1"/>
          </a:solidFill>
          <a:ln w="12700">
            <a:solidFill>
              <a:schemeClr val="tx1"/>
            </a:solidFill>
            <a:prstDash val="solid"/>
          </a:ln>
        </p:spPr>
      </p:sp>
      <p:pic>
        <p:nvPicPr>
          <p:cNvPr id="19" name="Step icon 4" descr="Encode">    </p:cNvPr>
          <p:cNvPicPr>
            <a:picLocks noChangeAspect="1"/>
          </p:cNvPicPr>
          <p:nvPr/>
        </p:nvPicPr>
        <p:blipFill>
          <a:blip r:embed="rId4"/>
          <a:stretch>
            <a:fillRect/>
          </a:stretch>
        </p:blipFill>
        <p:spPr>
          <a:xfrm>
            <a:off x="7543800" y="1371600"/>
            <a:ext cx="365760" cy="365760"/>
          </a:xfrm>
          <a:prstGeom prst="rect">
            <a:avLst/>
          </a:prstGeom>
        </p:spPr>
      </p:pic>
      <p:sp>
        <p:nvSpPr>
          <p:cNvPr id="20" name="Step title 4"/>
          <p:cNvSpPr txBox="1"/>
          <p:nvPr/>
        </p:nvSpPr>
        <p:spPr>
          <a:xfrm>
            <a:off x="6766560" y="2057400"/>
            <a:ext cx="1920240" cy="365760"/>
          </a:xfrm>
          <a:prstGeom prst="rect">
            <a:avLst/>
          </a:prstGeom>
          <a:noFill/>
          <a:ln/>
        </p:spPr>
        <p:txBody>
          <a:bodyPr wrap="square" lIns="0" tIns="0" rIns="0" bIns="0" rtlCol="0" anchor="ctr"/>
          <a:lstStyle/>
          <a:p>
            <a:pPr algn="ctr" indent="0" marL="0">
              <a:buNone/>
            </a:pPr>
            <a:r>
              <a:rPr lang="en-US" sz="1600" b="1" dirty="0">
                <a:solidFill>
                  <a:schemeClr val="tx1"/>
                </a:solidFill>
              </a:rPr>
              <a:t>4  Encode</a:t>
            </a:r>
            <a:endParaRPr lang="en-US" sz="1600" dirty="0"/>
          </a:p>
        </p:txBody>
      </p:sp>
      <p:sp>
        <p:nvSpPr>
          <p:cNvPr id="21" name="Step text 4"/>
          <p:cNvSpPr txBox="1"/>
          <p:nvPr/>
        </p:nvSpPr>
        <p:spPr>
          <a:xfrm>
            <a:off x="6766560" y="2468880"/>
            <a:ext cx="1920240" cy="1005840"/>
          </a:xfrm>
          <a:prstGeom prst="rect">
            <a:avLst/>
          </a:prstGeom>
          <a:noFill/>
          <a:ln/>
        </p:spPr>
        <p:txBody>
          <a:bodyPr wrap="square" lIns="0" tIns="0" rIns="0" bIns="0" rtlCol="0" anchor="t"/>
          <a:lstStyle/>
          <a:p>
            <a:pPr algn="ctr" indent="0" marL="0">
              <a:buNone/>
            </a:pPr>
            <a:r>
              <a:rPr lang="en-US" sz="1400" dirty="0">
                <a:solidFill>
                  <a:schemeClr val="tx2"/>
                </a:solidFill>
              </a:rPr>
              <a:t>Plain Python with exact decimals, one small module per task</a:t>
            </a:r>
            <a:endParaRPr lang="en-US" sz="1400" dirty="0"/>
          </a:p>
        </p:txBody>
      </p:sp>
      <p:sp>
        <p:nvSpPr>
          <p:cNvPr id="22" name="Principle card"/>
          <p:cNvSpPr/>
          <p:nvPr/>
        </p:nvSpPr>
        <p:spPr>
          <a:xfrm>
            <a:off x="457200" y="3703320"/>
            <a:ext cx="8229600" cy="731520"/>
          </a:xfrm>
          <a:prstGeom prst="roundRect">
            <a:avLst>
              <a:gd name="adj" fmla="val 10000"/>
            </a:avLst>
          </a:prstGeom>
          <a:solidFill>
            <a:schemeClr val="bg2"/>
          </a:solidFill>
          <a:ln w="12700">
            <a:solidFill>
              <a:schemeClr val="bg2"/>
            </a:solidFill>
            <a:prstDash val="solid"/>
          </a:ln>
        </p:spPr>
      </p:sp>
      <p:sp>
        <p:nvSpPr>
          <p:cNvPr id="23" name="Principle"/>
          <p:cNvSpPr txBox="1"/>
          <p:nvPr/>
        </p:nvSpPr>
        <p:spPr>
          <a:xfrm>
            <a:off x="685800" y="3703320"/>
            <a:ext cx="7772400" cy="731520"/>
          </a:xfrm>
          <a:prstGeom prst="rect">
            <a:avLst/>
          </a:prstGeom>
          <a:noFill/>
          <a:ln/>
        </p:spPr>
        <p:txBody>
          <a:bodyPr wrap="square" lIns="0" tIns="0" rIns="0" bIns="0" rtlCol="0" anchor="ctr"/>
          <a:lstStyle/>
          <a:p>
            <a:pPr indent="0" marL="0">
              <a:buNone/>
            </a:pPr>
            <a:r>
              <a:rPr lang="en-US" sz="1500" b="1" dirty="0">
                <a:solidFill>
                  <a:schemeClr val="tx1"/>
                </a:solidFill>
              </a:rPr>
              <a:t>Machine learning shows where a rule breaks. </a:t>
            </a:r>
            <a:pPr indent="0" marL="0">
              <a:buNone/>
            </a:pPr>
            <a:r>
              <a:rPr lang="en-US" sz="1500" dirty="0">
                <a:solidFill>
                  <a:schemeClr val="tx1"/>
                </a:solidFill>
              </a:rPr>
              <a:t>The submission contains no model: every cent can be explained to an auditor.</a:t>
            </a:r>
            <a:endParaRPr lang="en-US" sz="15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One loop, six generic tools</a:t>
            </a:r>
            <a:endParaRPr lang="en-US" sz="3000" dirty="0"/>
          </a:p>
        </p:txBody>
      </p:sp>
      <p:sp>
        <p:nvSpPr>
          <p:cNvPr id="3" name="Toolkit card 1"/>
          <p:cNvSpPr/>
          <p:nvPr/>
        </p:nvSpPr>
        <p:spPr>
          <a:xfrm>
            <a:off x="457200" y="1097280"/>
            <a:ext cx="2651760" cy="1417320"/>
          </a:xfrm>
          <a:prstGeom prst="roundRect">
            <a:avLst>
              <a:gd name="adj" fmla="val 5161"/>
            </a:avLst>
          </a:prstGeom>
          <a:solidFill>
            <a:schemeClr val="bg2"/>
          </a:solidFill>
          <a:ln w="12700">
            <a:solidFill>
              <a:schemeClr val="bg2"/>
            </a:solidFill>
            <a:prstDash val="solid"/>
          </a:ln>
        </p:spPr>
      </p:sp>
      <p:sp>
        <p:nvSpPr>
          <p:cNvPr id="4" name="Toolkit circle 1"/>
          <p:cNvSpPr/>
          <p:nvPr/>
        </p:nvSpPr>
        <p:spPr>
          <a:xfrm>
            <a:off x="640080" y="1280160"/>
            <a:ext cx="457200" cy="457200"/>
          </a:xfrm>
          <a:prstGeom prst="ellipse">
            <a:avLst/>
          </a:prstGeom>
          <a:solidFill>
            <a:schemeClr val="tx1"/>
          </a:solidFill>
          <a:ln w="12700">
            <a:solidFill>
              <a:schemeClr val="tx1"/>
            </a:solidFill>
            <a:prstDash val="solid"/>
          </a:ln>
        </p:spPr>
      </p:sp>
      <p:pic>
        <p:nvPicPr>
          <p:cNvPr id="5" name="Toolkit icon 1" descr="Rule finder">    </p:cNvPr>
          <p:cNvPicPr>
            <a:picLocks noChangeAspect="1"/>
          </p:cNvPicPr>
          <p:nvPr/>
        </p:nvPicPr>
        <p:blipFill>
          <a:blip r:embed="rId1"/>
          <a:stretch>
            <a:fillRect/>
          </a:stretch>
        </p:blipFill>
        <p:spPr>
          <a:xfrm>
            <a:off x="749808" y="1389888"/>
            <a:ext cx="237744" cy="237744"/>
          </a:xfrm>
          <a:prstGeom prst="rect">
            <a:avLst/>
          </a:prstGeom>
        </p:spPr>
      </p:pic>
      <p:sp>
        <p:nvSpPr>
          <p:cNvPr id="6" name="Toolkit name 1"/>
          <p:cNvSpPr txBox="1"/>
          <p:nvPr/>
        </p:nvSpPr>
        <p:spPr>
          <a:xfrm>
            <a:off x="1234440" y="129844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Rule finder</a:t>
            </a:r>
            <a:endParaRPr lang="en-US" sz="1600" dirty="0"/>
          </a:p>
        </p:txBody>
      </p:sp>
      <p:sp>
        <p:nvSpPr>
          <p:cNvPr id="7" name="Toolkit text 1"/>
          <p:cNvSpPr txBox="1"/>
          <p:nvPr/>
        </p:nvSpPr>
        <p:spPr>
          <a:xfrm>
            <a:off x="640080" y="1828800"/>
            <a:ext cx="2331720" cy="594360"/>
          </a:xfrm>
          <a:prstGeom prst="rect">
            <a:avLst/>
          </a:prstGeom>
          <a:noFill/>
          <a:ln/>
        </p:spPr>
        <p:txBody>
          <a:bodyPr wrap="square" lIns="0" tIns="0" rIns="0" bIns="0" rtlCol="0" anchor="t"/>
          <a:lstStyle/>
          <a:p>
            <a:pPr indent="0" marL="0">
              <a:buNone/>
            </a:pPr>
            <a:r>
              <a:rPr lang="en-US" sz="1300" dirty="0">
                <a:solidFill>
                  <a:schemeClr val="tx2"/>
                </a:solidFill>
              </a:rPr>
              <a:t>Where is a rule wrong? → drifting due dates before 2007</a:t>
            </a:r>
            <a:endParaRPr lang="en-US" sz="1300" dirty="0"/>
          </a:p>
        </p:txBody>
      </p:sp>
      <p:sp>
        <p:nvSpPr>
          <p:cNvPr id="8" name="Toolkit card 2"/>
          <p:cNvSpPr/>
          <p:nvPr/>
        </p:nvSpPr>
        <p:spPr>
          <a:xfrm>
            <a:off x="3246120" y="1097280"/>
            <a:ext cx="2651760" cy="1417320"/>
          </a:xfrm>
          <a:prstGeom prst="roundRect">
            <a:avLst>
              <a:gd name="adj" fmla="val 5161"/>
            </a:avLst>
          </a:prstGeom>
          <a:solidFill>
            <a:schemeClr val="bg2"/>
          </a:solidFill>
          <a:ln w="12700">
            <a:solidFill>
              <a:schemeClr val="bg2"/>
            </a:solidFill>
            <a:prstDash val="solid"/>
          </a:ln>
        </p:spPr>
      </p:sp>
      <p:sp>
        <p:nvSpPr>
          <p:cNvPr id="9" name="Toolkit circle 2"/>
          <p:cNvSpPr/>
          <p:nvPr/>
        </p:nvSpPr>
        <p:spPr>
          <a:xfrm>
            <a:off x="3429000" y="1280160"/>
            <a:ext cx="457200" cy="457200"/>
          </a:xfrm>
          <a:prstGeom prst="ellipse">
            <a:avLst/>
          </a:prstGeom>
          <a:solidFill>
            <a:schemeClr val="tx1"/>
          </a:solidFill>
          <a:ln w="12700">
            <a:solidFill>
              <a:schemeClr val="tx1"/>
            </a:solidFill>
            <a:prstDash val="solid"/>
          </a:ln>
        </p:spPr>
      </p:sp>
      <p:pic>
        <p:nvPicPr>
          <p:cNvPr id="10" name="Toolkit icon 2" descr="Change points">    </p:cNvPr>
          <p:cNvPicPr>
            <a:picLocks noChangeAspect="1"/>
          </p:cNvPicPr>
          <p:nvPr/>
        </p:nvPicPr>
        <p:blipFill>
          <a:blip r:embed="rId2"/>
          <a:stretch>
            <a:fillRect/>
          </a:stretch>
        </p:blipFill>
        <p:spPr>
          <a:xfrm>
            <a:off x="3538728" y="1389888"/>
            <a:ext cx="237744" cy="237744"/>
          </a:xfrm>
          <a:prstGeom prst="rect">
            <a:avLst/>
          </a:prstGeom>
        </p:spPr>
      </p:pic>
      <p:sp>
        <p:nvSpPr>
          <p:cNvPr id="11" name="Toolkit name 2"/>
          <p:cNvSpPr txBox="1"/>
          <p:nvPr/>
        </p:nvSpPr>
        <p:spPr>
          <a:xfrm>
            <a:off x="4023360" y="129844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Change points</a:t>
            </a:r>
            <a:endParaRPr lang="en-US" sz="1600" dirty="0"/>
          </a:p>
        </p:txBody>
      </p:sp>
      <p:sp>
        <p:nvSpPr>
          <p:cNvPr id="12" name="Toolkit text 2"/>
          <p:cNvSpPr txBox="1"/>
          <p:nvPr/>
        </p:nvSpPr>
        <p:spPr>
          <a:xfrm>
            <a:off x="3429000" y="1828800"/>
            <a:ext cx="2331720" cy="594360"/>
          </a:xfrm>
          <a:prstGeom prst="rect">
            <a:avLst/>
          </a:prstGeom>
          <a:noFill/>
          <a:ln/>
        </p:spPr>
        <p:txBody>
          <a:bodyPr wrap="square" lIns="0" tIns="0" rIns="0" bIns="0" rtlCol="0" anchor="t"/>
          <a:lstStyle/>
          <a:p>
            <a:pPr indent="0" marL="0">
              <a:buNone/>
            </a:pPr>
            <a:r>
              <a:rPr lang="en-US" sz="1300" dirty="0">
                <a:solidFill>
                  <a:schemeClr val="tx2"/>
                </a:solidFill>
              </a:rPr>
              <a:t>When did the system change? → 2007-08-11</a:t>
            </a:r>
            <a:endParaRPr lang="en-US" sz="1300" dirty="0"/>
          </a:p>
        </p:txBody>
      </p:sp>
      <p:sp>
        <p:nvSpPr>
          <p:cNvPr id="13" name="Toolkit card 3"/>
          <p:cNvSpPr/>
          <p:nvPr/>
        </p:nvSpPr>
        <p:spPr>
          <a:xfrm>
            <a:off x="6035040" y="1097280"/>
            <a:ext cx="2651760" cy="1417320"/>
          </a:xfrm>
          <a:prstGeom prst="roundRect">
            <a:avLst>
              <a:gd name="adj" fmla="val 5161"/>
            </a:avLst>
          </a:prstGeom>
          <a:solidFill>
            <a:schemeClr val="bg2"/>
          </a:solidFill>
          <a:ln w="12700">
            <a:solidFill>
              <a:schemeClr val="bg2"/>
            </a:solidFill>
            <a:prstDash val="solid"/>
          </a:ln>
        </p:spPr>
      </p:sp>
      <p:sp>
        <p:nvSpPr>
          <p:cNvPr id="14" name="Toolkit circle 3"/>
          <p:cNvSpPr/>
          <p:nvPr/>
        </p:nvSpPr>
        <p:spPr>
          <a:xfrm>
            <a:off x="6217920" y="1280160"/>
            <a:ext cx="457200" cy="457200"/>
          </a:xfrm>
          <a:prstGeom prst="ellipse">
            <a:avLst/>
          </a:prstGeom>
          <a:solidFill>
            <a:schemeClr val="tx1"/>
          </a:solidFill>
          <a:ln w="12700">
            <a:solidFill>
              <a:schemeClr val="tx1"/>
            </a:solidFill>
            <a:prstDash val="solid"/>
          </a:ln>
        </p:spPr>
      </p:sp>
      <p:pic>
        <p:nvPicPr>
          <p:cNvPr id="15" name="Toolkit icon 3" descr="Residuals">    </p:cNvPr>
          <p:cNvPicPr>
            <a:picLocks noChangeAspect="1"/>
          </p:cNvPicPr>
          <p:nvPr/>
        </p:nvPicPr>
        <p:blipFill>
          <a:blip r:embed="rId3"/>
          <a:stretch>
            <a:fillRect/>
          </a:stretch>
        </p:blipFill>
        <p:spPr>
          <a:xfrm>
            <a:off x="6327648" y="1389888"/>
            <a:ext cx="237744" cy="237744"/>
          </a:xfrm>
          <a:prstGeom prst="rect">
            <a:avLst/>
          </a:prstGeom>
        </p:spPr>
      </p:pic>
      <p:sp>
        <p:nvSpPr>
          <p:cNvPr id="16" name="Toolkit name 3"/>
          <p:cNvSpPr txBox="1"/>
          <p:nvPr/>
        </p:nvSpPr>
        <p:spPr>
          <a:xfrm>
            <a:off x="6812280" y="129844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Residuals</a:t>
            </a:r>
            <a:endParaRPr lang="en-US" sz="1600" dirty="0"/>
          </a:p>
        </p:txBody>
      </p:sp>
      <p:sp>
        <p:nvSpPr>
          <p:cNvPr id="17" name="Toolkit text 3"/>
          <p:cNvSpPr txBox="1"/>
          <p:nvPr/>
        </p:nvSpPr>
        <p:spPr>
          <a:xfrm>
            <a:off x="6217920" y="1828800"/>
            <a:ext cx="2331720" cy="594360"/>
          </a:xfrm>
          <a:prstGeom prst="rect">
            <a:avLst/>
          </a:prstGeom>
          <a:noFill/>
          <a:ln/>
        </p:spPr>
        <p:txBody>
          <a:bodyPr wrap="square" lIns="0" tIns="0" rIns="0" bIns="0" rtlCol="0" anchor="t"/>
          <a:lstStyle/>
          <a:p>
            <a:pPr indent="0" marL="0">
              <a:buNone/>
            </a:pPr>
            <a:r>
              <a:rPr lang="en-US" sz="1300" dirty="0">
                <a:solidFill>
                  <a:schemeClr val="tx2"/>
                </a:solidFill>
              </a:rPr>
              <a:t>What do the differences say? → 31/360, cut-off cents</a:t>
            </a:r>
            <a:endParaRPr lang="en-US" sz="1300" dirty="0"/>
          </a:p>
        </p:txBody>
      </p:sp>
      <p:sp>
        <p:nvSpPr>
          <p:cNvPr id="18" name="Toolkit card 4"/>
          <p:cNvSpPr/>
          <p:nvPr/>
        </p:nvSpPr>
        <p:spPr>
          <a:xfrm>
            <a:off x="457200" y="2651760"/>
            <a:ext cx="2651760" cy="1417320"/>
          </a:xfrm>
          <a:prstGeom prst="roundRect">
            <a:avLst>
              <a:gd name="adj" fmla="val 5161"/>
            </a:avLst>
          </a:prstGeom>
          <a:solidFill>
            <a:schemeClr val="bg2"/>
          </a:solidFill>
          <a:ln w="12700">
            <a:solidFill>
              <a:schemeClr val="bg2"/>
            </a:solidFill>
            <a:prstDash val="solid"/>
          </a:ln>
        </p:spPr>
      </p:sp>
      <p:sp>
        <p:nvSpPr>
          <p:cNvPr id="19" name="Toolkit circle 4"/>
          <p:cNvSpPr/>
          <p:nvPr/>
        </p:nvSpPr>
        <p:spPr>
          <a:xfrm>
            <a:off x="640080" y="2834640"/>
            <a:ext cx="457200" cy="457200"/>
          </a:xfrm>
          <a:prstGeom prst="ellipse">
            <a:avLst/>
          </a:prstGeom>
          <a:solidFill>
            <a:schemeClr val="tx1"/>
          </a:solidFill>
          <a:ln w="12700">
            <a:solidFill>
              <a:schemeClr val="tx1"/>
            </a:solidFill>
            <a:prstDash val="solid"/>
          </a:ln>
        </p:spPr>
      </p:sp>
      <p:pic>
        <p:nvPicPr>
          <p:cNvPr id="20" name="Toolkit icon 4" descr="Convention search">    </p:cNvPr>
          <p:cNvPicPr>
            <a:picLocks noChangeAspect="1"/>
          </p:cNvPicPr>
          <p:nvPr/>
        </p:nvPicPr>
        <p:blipFill>
          <a:blip r:embed="rId4"/>
          <a:stretch>
            <a:fillRect/>
          </a:stretch>
        </p:blipFill>
        <p:spPr>
          <a:xfrm>
            <a:off x="749808" y="2944368"/>
            <a:ext cx="237744" cy="237744"/>
          </a:xfrm>
          <a:prstGeom prst="rect">
            <a:avLst/>
          </a:prstGeom>
        </p:spPr>
      </p:pic>
      <p:sp>
        <p:nvSpPr>
          <p:cNvPr id="21" name="Toolkit name 4"/>
          <p:cNvSpPr txBox="1"/>
          <p:nvPr/>
        </p:nvSpPr>
        <p:spPr>
          <a:xfrm>
            <a:off x="1234440" y="285292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Convention search</a:t>
            </a:r>
            <a:endParaRPr lang="en-US" sz="1600" dirty="0"/>
          </a:p>
        </p:txBody>
      </p:sp>
      <p:sp>
        <p:nvSpPr>
          <p:cNvPr id="22" name="Toolkit text 4"/>
          <p:cNvSpPr txBox="1"/>
          <p:nvPr/>
        </p:nvSpPr>
        <p:spPr>
          <a:xfrm>
            <a:off x="640080" y="3383280"/>
            <a:ext cx="2331720" cy="594360"/>
          </a:xfrm>
          <a:prstGeom prst="rect">
            <a:avLst/>
          </a:prstGeom>
          <a:noFill/>
          <a:ln/>
        </p:spPr>
        <p:txBody>
          <a:bodyPr wrap="square" lIns="0" tIns="0" rIns="0" bIns="0" rtlCol="0" anchor="t"/>
          <a:lstStyle/>
          <a:p>
            <a:pPr indent="0" marL="0">
              <a:buNone/>
            </a:pPr>
            <a:r>
              <a:rPr lang="en-US" sz="1300" dirty="0">
                <a:solidFill>
                  <a:schemeClr val="tx2"/>
                </a:solidFill>
              </a:rPr>
              <a:t>Which convention is it? → Actual/360, charge order</a:t>
            </a:r>
            <a:endParaRPr lang="en-US" sz="1300" dirty="0"/>
          </a:p>
        </p:txBody>
      </p:sp>
      <p:sp>
        <p:nvSpPr>
          <p:cNvPr id="23" name="Toolkit card 5"/>
          <p:cNvSpPr/>
          <p:nvPr/>
        </p:nvSpPr>
        <p:spPr>
          <a:xfrm>
            <a:off x="3246120" y="2651760"/>
            <a:ext cx="2651760" cy="1417320"/>
          </a:xfrm>
          <a:prstGeom prst="roundRect">
            <a:avLst>
              <a:gd name="adj" fmla="val 5161"/>
            </a:avLst>
          </a:prstGeom>
          <a:solidFill>
            <a:schemeClr val="bg2"/>
          </a:solidFill>
          <a:ln w="12700">
            <a:solidFill>
              <a:schemeClr val="bg2"/>
            </a:solidFill>
            <a:prstDash val="solid"/>
          </a:ln>
        </p:spPr>
      </p:sp>
      <p:sp>
        <p:nvSpPr>
          <p:cNvPr id="24" name="Toolkit circle 5"/>
          <p:cNvSpPr/>
          <p:nvPr/>
        </p:nvSpPr>
        <p:spPr>
          <a:xfrm>
            <a:off x="3429000" y="2834640"/>
            <a:ext cx="457200" cy="457200"/>
          </a:xfrm>
          <a:prstGeom prst="ellipse">
            <a:avLst/>
          </a:prstGeom>
          <a:solidFill>
            <a:schemeClr val="accent1"/>
          </a:solidFill>
          <a:ln w="12700">
            <a:solidFill>
              <a:schemeClr val="accent1"/>
            </a:solidFill>
            <a:prstDash val="solid"/>
          </a:ln>
        </p:spPr>
      </p:sp>
      <p:pic>
        <p:nvPicPr>
          <p:cNvPr id="25" name="Toolkit icon 5" descr="Weak labels">    </p:cNvPr>
          <p:cNvPicPr>
            <a:picLocks noChangeAspect="1"/>
          </p:cNvPicPr>
          <p:nvPr/>
        </p:nvPicPr>
        <p:blipFill>
          <a:blip r:embed="rId5"/>
          <a:stretch>
            <a:fillRect/>
          </a:stretch>
        </p:blipFill>
        <p:spPr>
          <a:xfrm>
            <a:off x="3538728" y="2944368"/>
            <a:ext cx="237744" cy="237744"/>
          </a:xfrm>
          <a:prstGeom prst="rect">
            <a:avLst/>
          </a:prstGeom>
        </p:spPr>
      </p:pic>
      <p:sp>
        <p:nvSpPr>
          <p:cNvPr id="26" name="Toolkit name 5"/>
          <p:cNvSpPr txBox="1"/>
          <p:nvPr/>
        </p:nvSpPr>
        <p:spPr>
          <a:xfrm>
            <a:off x="4023360" y="285292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Weak labels</a:t>
            </a:r>
            <a:endParaRPr lang="en-US" sz="1600" dirty="0"/>
          </a:p>
        </p:txBody>
      </p:sp>
      <p:sp>
        <p:nvSpPr>
          <p:cNvPr id="27" name="Toolkit text 5"/>
          <p:cNvSpPr txBox="1"/>
          <p:nvPr/>
        </p:nvSpPr>
        <p:spPr>
          <a:xfrm>
            <a:off x="3429000" y="3383280"/>
            <a:ext cx="2331720" cy="594360"/>
          </a:xfrm>
          <a:prstGeom prst="rect">
            <a:avLst/>
          </a:prstGeom>
          <a:noFill/>
          <a:ln/>
        </p:spPr>
        <p:txBody>
          <a:bodyPr wrap="square" lIns="0" tIns="0" rIns="0" bIns="0" rtlCol="0" anchor="t"/>
          <a:lstStyle/>
          <a:p>
            <a:pPr indent="0" marL="0">
              <a:buNone/>
            </a:pPr>
            <a:r>
              <a:rPr lang="en-US" sz="1300" dirty="0">
                <a:solidFill>
                  <a:schemeClr val="tx2"/>
                </a:solidFill>
              </a:rPr>
              <a:t>No targets? Learn from the legacy bookings → t7</a:t>
            </a:r>
            <a:endParaRPr lang="en-US" sz="1300" dirty="0"/>
          </a:p>
        </p:txBody>
      </p:sp>
      <p:sp>
        <p:nvSpPr>
          <p:cNvPr id="28" name="Toolkit card 6"/>
          <p:cNvSpPr/>
          <p:nvPr/>
        </p:nvSpPr>
        <p:spPr>
          <a:xfrm>
            <a:off x="6035040" y="2651760"/>
            <a:ext cx="2651760" cy="1417320"/>
          </a:xfrm>
          <a:prstGeom prst="roundRect">
            <a:avLst>
              <a:gd name="adj" fmla="val 5161"/>
            </a:avLst>
          </a:prstGeom>
          <a:solidFill>
            <a:schemeClr val="bg2"/>
          </a:solidFill>
          <a:ln w="12700">
            <a:solidFill>
              <a:schemeClr val="bg2"/>
            </a:solidFill>
            <a:prstDash val="solid"/>
          </a:ln>
        </p:spPr>
      </p:sp>
      <p:sp>
        <p:nvSpPr>
          <p:cNvPr id="29" name="Toolkit circle 6"/>
          <p:cNvSpPr/>
          <p:nvPr/>
        </p:nvSpPr>
        <p:spPr>
          <a:xfrm>
            <a:off x="6217920" y="2834640"/>
            <a:ext cx="457200" cy="457200"/>
          </a:xfrm>
          <a:prstGeom prst="ellipse">
            <a:avLst/>
          </a:prstGeom>
          <a:solidFill>
            <a:schemeClr val="tx1"/>
          </a:solidFill>
          <a:ln w="12700">
            <a:solidFill>
              <a:schemeClr val="tx1"/>
            </a:solidFill>
            <a:prstDash val="solid"/>
          </a:ln>
        </p:spPr>
      </p:sp>
      <p:pic>
        <p:nvPicPr>
          <p:cNvPr id="30" name="Toolkit icon 6" descr="Learned calendar">    </p:cNvPr>
          <p:cNvPicPr>
            <a:picLocks noChangeAspect="1"/>
          </p:cNvPicPr>
          <p:nvPr/>
        </p:nvPicPr>
        <p:blipFill>
          <a:blip r:embed="rId6"/>
          <a:stretch>
            <a:fillRect/>
          </a:stretch>
        </p:blipFill>
        <p:spPr>
          <a:xfrm>
            <a:off x="6327648" y="2944368"/>
            <a:ext cx="237744" cy="237744"/>
          </a:xfrm>
          <a:prstGeom prst="rect">
            <a:avLst/>
          </a:prstGeom>
        </p:spPr>
      </p:pic>
      <p:sp>
        <p:nvSpPr>
          <p:cNvPr id="31" name="Toolkit name 6"/>
          <p:cNvSpPr txBox="1"/>
          <p:nvPr/>
        </p:nvSpPr>
        <p:spPr>
          <a:xfrm>
            <a:off x="6812280" y="2852928"/>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Learned calendar</a:t>
            </a:r>
            <a:endParaRPr lang="en-US" sz="1600" dirty="0"/>
          </a:p>
        </p:txBody>
      </p:sp>
      <p:sp>
        <p:nvSpPr>
          <p:cNvPr id="32" name="Toolkit text 6"/>
          <p:cNvSpPr txBox="1"/>
          <p:nvPr/>
        </p:nvSpPr>
        <p:spPr>
          <a:xfrm>
            <a:off x="6217920" y="3383280"/>
            <a:ext cx="2331720" cy="594360"/>
          </a:xfrm>
          <a:prstGeom prst="rect">
            <a:avLst/>
          </a:prstGeom>
          <a:noFill/>
          <a:ln/>
        </p:spPr>
        <p:txBody>
          <a:bodyPr wrap="square" lIns="0" tIns="0" rIns="0" bIns="0" rtlCol="0" anchor="t"/>
          <a:lstStyle/>
          <a:p>
            <a:pPr indent="0" marL="0">
              <a:buNone/>
            </a:pPr>
            <a:r>
              <a:rPr lang="en-US" sz="1300" dirty="0">
                <a:solidFill>
                  <a:schemeClr val="tx2"/>
                </a:solidFill>
              </a:rPr>
              <a:t>Business days from the price days → Ticino holidays</a:t>
            </a:r>
            <a:endParaRPr lang="en-US" sz="1300" dirty="0"/>
          </a:p>
        </p:txBody>
      </p:sp>
      <p:sp>
        <p:nvSpPr>
          <p:cNvPr id="33" name="Toolkit caption"/>
          <p:cNvSpPr txBox="1"/>
          <p:nvPr/>
        </p:nvSpPr>
        <p:spPr>
          <a:xfrm>
            <a:off x="457200" y="4270248"/>
            <a:ext cx="8229600" cy="274320"/>
          </a:xfrm>
          <a:prstGeom prst="rect">
            <a:avLst/>
          </a:prstGeom>
          <a:noFill/>
          <a:ln/>
        </p:spPr>
        <p:txBody>
          <a:bodyPr wrap="square" lIns="0" tIns="0" rIns="0" bIns="0" rtlCol="0" anchor="ctr"/>
          <a:lstStyle/>
          <a:p>
            <a:pPr indent="0" marL="0">
              <a:buNone/>
            </a:pPr>
            <a:r>
              <a:rPr lang="en-US" sz="1200" i="1" dirty="0">
                <a:solidFill>
                  <a:schemeClr val="tx2"/>
                </a:solidFill>
              </a:rPr>
              <a:t>None of them knows anything about insurance: notebook 06 shows each one rediscovering one of our rules.</a:t>
            </a:r>
            <a:endParaRPr lang="en-US" sz="12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Neuron is really two systems</a:t>
            </a:r>
            <a:endParaRPr lang="en-US" sz="3000" dirty="0"/>
          </a:p>
        </p:txBody>
      </p:sp>
      <p:graphicFrame>
        <p:nvGraphicFramePr>
          <p:cNvPr id="6" name="COBOL vs NG"/>
          <p:cNvGraphicFramePr>
            <a:graphicFrameLocks noGrp="1"/>
          </p:cNvGraphicFramePr>
          <p:nvPr>
            <p:extLst>
              <p:ext uri="{D42A27DB-BD31-4B8C-83A1-F6EECF244321}">
                <p14:modId xmlns:p14="http://schemas.microsoft.com/office/powerpoint/2010/main" val="1579011935"/>
              </p:ext>
            </p:extLst>
          </p:nvPr>
        </p:nvGraphicFramePr>
        <p:xfrm>
          <a:off x="457200" y="1188720"/>
          <a:ext cx="5212080" cy="914400"/>
        </p:xfrm>
        <a:graphic>
          <a:graphicData uri="http://schemas.openxmlformats.org/drawingml/2006/table">
            <a:tbl>
              <a:tblPr/>
              <a:tblGrid>
                <a:gridCol w="1554480"/>
                <a:gridCol w="1828800"/>
                <a:gridCol w="1828800"/>
              </a:tblGrid>
              <a:tr h="566928">
                <a:tc>
                  <a:txBody>
                    <a:bodyPr/>
                    <a:lstStyle/>
                    <a:p>
                      <a:pPr indent="0" marL="0">
                        <a:buNone/>
                      </a:pP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COBOL, until 2007</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Neuron NG, Java</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Rounding</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truncate</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half up</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Insured age</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days since birth ÷ 365</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nearest birthday</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Management charge</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rate × days ÷ 360</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rate ÷ 12</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Due dates</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drift 31 → 30 → 28</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anchored, no drift</a:t>
                      </a:r>
                      <a:endParaRPr lang="en-US" sz="1400" dirty="0"/>
                    </a:p>
                  </a:txBody>
                  <a:tcPr marL="91440" marR="91440" marT="45720" marB="4572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4" name="Also title"/>
          <p:cNvSpPr txBox="1"/>
          <p:nvPr/>
        </p:nvSpPr>
        <p:spPr>
          <a:xfrm>
            <a:off x="5989320" y="1188720"/>
            <a:ext cx="2697480" cy="320040"/>
          </a:xfrm>
          <a:prstGeom prst="rect">
            <a:avLst/>
          </a:prstGeom>
          <a:noFill/>
          <a:ln/>
        </p:spPr>
        <p:txBody>
          <a:bodyPr wrap="square" lIns="0" tIns="0" rIns="0" bIns="0" rtlCol="0" anchor="ctr"/>
          <a:lstStyle/>
          <a:p>
            <a:pPr indent="0" marL="0">
              <a:buNone/>
            </a:pPr>
            <a:r>
              <a:rPr lang="en-US" sz="1600" b="1" dirty="0">
                <a:solidFill>
                  <a:schemeClr val="tx1"/>
                </a:solidFill>
              </a:rPr>
              <a:t>Also hidden in the data</a:t>
            </a:r>
            <a:endParaRPr lang="en-US" sz="1600" dirty="0"/>
          </a:p>
        </p:txBody>
      </p:sp>
      <p:sp>
        <p:nvSpPr>
          <p:cNvPr id="5" name="Extra card 1"/>
          <p:cNvSpPr/>
          <p:nvPr/>
        </p:nvSpPr>
        <p:spPr>
          <a:xfrm>
            <a:off x="5989320" y="1645920"/>
            <a:ext cx="2697480" cy="777240"/>
          </a:xfrm>
          <a:prstGeom prst="roundRect">
            <a:avLst>
              <a:gd name="adj" fmla="val 9412"/>
            </a:avLst>
          </a:prstGeom>
          <a:solidFill>
            <a:schemeClr val="bg2"/>
          </a:solidFill>
          <a:ln w="12700">
            <a:solidFill>
              <a:schemeClr val="bg2"/>
            </a:solidFill>
            <a:prstDash val="solid"/>
          </a:ln>
        </p:spPr>
      </p:sp>
      <p:sp>
        <p:nvSpPr>
          <p:cNvPr id="6" name="Extra circle 1"/>
          <p:cNvSpPr/>
          <p:nvPr/>
        </p:nvSpPr>
        <p:spPr>
          <a:xfrm>
            <a:off x="6126480" y="1828800"/>
            <a:ext cx="411480" cy="411480"/>
          </a:xfrm>
          <a:prstGeom prst="ellipse">
            <a:avLst/>
          </a:prstGeom>
          <a:solidFill>
            <a:schemeClr val="accent1"/>
          </a:solidFill>
          <a:ln w="12700">
            <a:solidFill>
              <a:schemeClr val="accent1"/>
            </a:solidFill>
            <a:prstDash val="solid"/>
          </a:ln>
        </p:spPr>
      </p:sp>
      <p:pic>
        <p:nvPicPr>
          <p:cNvPr id="7" name="Extra icon 1" descr="preencoded.png">    </p:cNvPr>
          <p:cNvPicPr>
            <a:picLocks noChangeAspect="1"/>
          </p:cNvPicPr>
          <p:nvPr/>
        </p:nvPicPr>
        <p:blipFill>
          <a:blip r:embed="rId1"/>
          <a:stretch>
            <a:fillRect/>
          </a:stretch>
        </p:blipFill>
        <p:spPr>
          <a:xfrm>
            <a:off x="6217920" y="1920240"/>
            <a:ext cx="228600" cy="228600"/>
          </a:xfrm>
          <a:prstGeom prst="rect">
            <a:avLst/>
          </a:prstGeom>
        </p:spPr>
      </p:pic>
      <p:sp>
        <p:nvSpPr>
          <p:cNvPr id="8" name="Extra text 1"/>
          <p:cNvSpPr txBox="1"/>
          <p:nvPr/>
        </p:nvSpPr>
        <p:spPr>
          <a:xfrm>
            <a:off x="6675120" y="1645920"/>
            <a:ext cx="1920240" cy="777240"/>
          </a:xfrm>
          <a:prstGeom prst="rect">
            <a:avLst/>
          </a:prstGeom>
          <a:noFill/>
          <a:ln/>
        </p:spPr>
        <p:txBody>
          <a:bodyPr wrap="square" lIns="0" tIns="0" rIns="0" bIns="0" rtlCol="0" anchor="ctr"/>
          <a:lstStyle/>
          <a:p>
            <a:pPr indent="0" marL="0">
              <a:buNone/>
            </a:pPr>
            <a:r>
              <a:rPr lang="en-US" sz="1300" dirty="0">
                <a:solidFill>
                  <a:schemeClr val="tx1"/>
                </a:solidFill>
              </a:rPr>
              <a:t>The 01:30 charge run sees only units traded before the day</a:t>
            </a:r>
            <a:endParaRPr lang="en-US" sz="1300" dirty="0"/>
          </a:p>
        </p:txBody>
      </p:sp>
      <p:sp>
        <p:nvSpPr>
          <p:cNvPr id="9" name="Extra card 2"/>
          <p:cNvSpPr/>
          <p:nvPr/>
        </p:nvSpPr>
        <p:spPr>
          <a:xfrm>
            <a:off x="5989320" y="2560320"/>
            <a:ext cx="2697480" cy="777240"/>
          </a:xfrm>
          <a:prstGeom prst="roundRect">
            <a:avLst>
              <a:gd name="adj" fmla="val 9412"/>
            </a:avLst>
          </a:prstGeom>
          <a:solidFill>
            <a:schemeClr val="bg2"/>
          </a:solidFill>
          <a:ln w="12700">
            <a:solidFill>
              <a:schemeClr val="bg2"/>
            </a:solidFill>
            <a:prstDash val="solid"/>
          </a:ln>
        </p:spPr>
      </p:sp>
      <p:sp>
        <p:nvSpPr>
          <p:cNvPr id="10" name="Extra circle 2"/>
          <p:cNvSpPr/>
          <p:nvPr/>
        </p:nvSpPr>
        <p:spPr>
          <a:xfrm>
            <a:off x="6126480" y="2743200"/>
            <a:ext cx="411480" cy="411480"/>
          </a:xfrm>
          <a:prstGeom prst="ellipse">
            <a:avLst/>
          </a:prstGeom>
          <a:solidFill>
            <a:schemeClr val="accent1"/>
          </a:solidFill>
          <a:ln w="12700">
            <a:solidFill>
              <a:schemeClr val="accent1"/>
            </a:solidFill>
            <a:prstDash val="solid"/>
          </a:ln>
        </p:spPr>
      </p:sp>
      <p:pic>
        <p:nvPicPr>
          <p:cNvPr id="11" name="Extra icon 2" descr="preencoded.png">    </p:cNvPr>
          <p:cNvPicPr>
            <a:picLocks noChangeAspect="1"/>
          </p:cNvPicPr>
          <p:nvPr/>
        </p:nvPicPr>
        <p:blipFill>
          <a:blip r:embed="rId2"/>
          <a:stretch>
            <a:fillRect/>
          </a:stretch>
        </p:blipFill>
        <p:spPr>
          <a:xfrm>
            <a:off x="6217920" y="2834640"/>
            <a:ext cx="228600" cy="228600"/>
          </a:xfrm>
          <a:prstGeom prst="rect">
            <a:avLst/>
          </a:prstGeom>
        </p:spPr>
      </p:pic>
      <p:sp>
        <p:nvSpPr>
          <p:cNvPr id="12" name="Extra text 2"/>
          <p:cNvSpPr txBox="1"/>
          <p:nvPr/>
        </p:nvSpPr>
        <p:spPr>
          <a:xfrm>
            <a:off x="6675120" y="2560320"/>
            <a:ext cx="1920240" cy="777240"/>
          </a:xfrm>
          <a:prstGeom prst="rect">
            <a:avLst/>
          </a:prstGeom>
          <a:noFill/>
          <a:ln/>
        </p:spPr>
        <p:txBody>
          <a:bodyPr wrap="square" lIns="0" tIns="0" rIns="0" bIns="0" rtlCol="0" anchor="ctr"/>
          <a:lstStyle/>
          <a:p>
            <a:pPr indent="0" marL="0">
              <a:buNone/>
            </a:pPr>
            <a:r>
              <a:rPr lang="en-US" sz="1300" dirty="0">
                <a:solidFill>
                  <a:schemeClr val="tx1"/>
                </a:solidFill>
              </a:rPr>
              <a:t>Each fund buys on its own first day with a price</a:t>
            </a:r>
            <a:endParaRPr lang="en-US" sz="1300" dirty="0"/>
          </a:p>
        </p:txBody>
      </p:sp>
      <p:sp>
        <p:nvSpPr>
          <p:cNvPr id="13" name="Extra card 3"/>
          <p:cNvSpPr/>
          <p:nvPr/>
        </p:nvSpPr>
        <p:spPr>
          <a:xfrm>
            <a:off x="5989320" y="3474720"/>
            <a:ext cx="2697480" cy="777240"/>
          </a:xfrm>
          <a:prstGeom prst="roundRect">
            <a:avLst>
              <a:gd name="adj" fmla="val 9412"/>
            </a:avLst>
          </a:prstGeom>
          <a:solidFill>
            <a:schemeClr val="bg2"/>
          </a:solidFill>
          <a:ln w="12700">
            <a:solidFill>
              <a:schemeClr val="bg2"/>
            </a:solidFill>
            <a:prstDash val="solid"/>
          </a:ln>
        </p:spPr>
      </p:sp>
      <p:sp>
        <p:nvSpPr>
          <p:cNvPr id="14" name="Extra circle 3"/>
          <p:cNvSpPr/>
          <p:nvPr/>
        </p:nvSpPr>
        <p:spPr>
          <a:xfrm>
            <a:off x="6126480" y="3657600"/>
            <a:ext cx="411480" cy="411480"/>
          </a:xfrm>
          <a:prstGeom prst="ellipse">
            <a:avLst/>
          </a:prstGeom>
          <a:solidFill>
            <a:schemeClr val="accent1"/>
          </a:solidFill>
          <a:ln w="12700">
            <a:solidFill>
              <a:schemeClr val="accent1"/>
            </a:solidFill>
            <a:prstDash val="solid"/>
          </a:ln>
        </p:spPr>
      </p:sp>
      <p:pic>
        <p:nvPicPr>
          <p:cNvPr id="15" name="Extra icon 3" descr="preencoded.png">    </p:cNvPr>
          <p:cNvPicPr>
            <a:picLocks noChangeAspect="1"/>
          </p:cNvPicPr>
          <p:nvPr/>
        </p:nvPicPr>
        <p:blipFill>
          <a:blip r:embed="rId3"/>
          <a:stretch>
            <a:fillRect/>
          </a:stretch>
        </p:blipFill>
        <p:spPr>
          <a:xfrm>
            <a:off x="6217920" y="3749040"/>
            <a:ext cx="228600" cy="228600"/>
          </a:xfrm>
          <a:prstGeom prst="rect">
            <a:avLst/>
          </a:prstGeom>
        </p:spPr>
      </p:pic>
      <p:sp>
        <p:nvSpPr>
          <p:cNvPr id="16" name="Extra text 3"/>
          <p:cNvSpPr txBox="1"/>
          <p:nvPr/>
        </p:nvSpPr>
        <p:spPr>
          <a:xfrm>
            <a:off x="6675120" y="3474720"/>
            <a:ext cx="1920240" cy="777240"/>
          </a:xfrm>
          <a:prstGeom prst="rect">
            <a:avLst/>
          </a:prstGeom>
          <a:noFill/>
          <a:ln/>
        </p:spPr>
        <p:txBody>
          <a:bodyPr wrap="square" lIns="0" tIns="0" rIns="0" bIns="0" rtlCol="0" anchor="ctr"/>
          <a:lstStyle/>
          <a:p>
            <a:pPr indent="0" marL="0">
              <a:buNone/>
            </a:pPr>
            <a:r>
              <a:rPr lang="en-US" sz="1300" dirty="0">
                <a:solidFill>
                  <a:schemeClr val="tx1"/>
                </a:solidFill>
              </a:rPr>
              <a:t>Lowercase currency codes, impossible birth dates</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Ignore the two systems and the numbers break</a:t>
            </a:r>
            <a:endParaRPr lang="en-US" sz="3000" dirty="0"/>
          </a:p>
        </p:txBody>
      </p:sp>
      <p:graphicFrame>
        <p:nvGraphicFramePr>
          <p:cNvPr id="3" name="Errors per system era" descr=""/>
          <p:cNvGraphicFramePr/>
          <p:nvPr/>
        </p:nvGraphicFramePr>
        <p:xfrm>
          <a:off x="457200" y="1097280"/>
          <a:ext cx="5669280" cy="3429000"/>
        </p:xfrm>
        <a:graphic xmlns:a="http://schemas.openxmlformats.org/drawingml/2006/main">
          <a:graphicData uri="http://schemas.openxmlformats.org/drawingml/2006/chart">
            <c:chart xmlns:c="http://schemas.openxmlformats.org/drawingml/2006/chart" r:id="rId1"/>
          </a:graphicData>
        </a:graphic>
      </p:graphicFrame>
      <p:sp>
        <p:nvSpPr>
          <p:cNvPr id="4" name="Era value 1"/>
          <p:cNvSpPr txBox="1"/>
          <p:nvPr/>
        </p:nvSpPr>
        <p:spPr>
          <a:xfrm>
            <a:off x="6400800" y="1143000"/>
            <a:ext cx="2286000" cy="50292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100 %</a:t>
            </a:r>
            <a:endParaRPr lang="en-US" sz="3000" dirty="0"/>
          </a:p>
        </p:txBody>
      </p:sp>
      <p:sp>
        <p:nvSpPr>
          <p:cNvPr id="5" name="Era label 1"/>
          <p:cNvSpPr txBox="1"/>
          <p:nvPr/>
        </p:nvSpPr>
        <p:spPr>
          <a:xfrm>
            <a:off x="6400800" y="1645920"/>
            <a:ext cx="2286000" cy="548640"/>
          </a:xfrm>
          <a:prstGeom prst="rect">
            <a:avLst/>
          </a:prstGeom>
          <a:noFill/>
          <a:ln/>
        </p:spPr>
        <p:txBody>
          <a:bodyPr wrap="square" lIns="0" tIns="0" rIns="0" bIns="0" rtlCol="0" anchor="t"/>
          <a:lstStyle/>
          <a:p>
            <a:pPr indent="0" marL="0">
              <a:buNone/>
            </a:pPr>
            <a:r>
              <a:rPr lang="en-US" sz="1300" dirty="0">
                <a:solidFill>
                  <a:schemeClr val="tx2"/>
                </a:solidFill>
              </a:rPr>
              <a:t>of the offers of the COBOL era are wrong with the Neuron NG rules alone</a:t>
            </a:r>
            <a:endParaRPr lang="en-US" sz="1300" dirty="0"/>
          </a:p>
        </p:txBody>
      </p:sp>
      <p:sp>
        <p:nvSpPr>
          <p:cNvPr id="6" name="Era value 2"/>
          <p:cNvSpPr txBox="1"/>
          <p:nvPr/>
        </p:nvSpPr>
        <p:spPr>
          <a:xfrm>
            <a:off x="6400800" y="2286000"/>
            <a:ext cx="2286000" cy="50292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17 %</a:t>
            </a:r>
            <a:endParaRPr lang="en-US" sz="3000" dirty="0"/>
          </a:p>
        </p:txBody>
      </p:sp>
      <p:sp>
        <p:nvSpPr>
          <p:cNvPr id="7" name="Era label 2"/>
          <p:cNvSpPr txBox="1"/>
          <p:nvPr/>
        </p:nvSpPr>
        <p:spPr>
          <a:xfrm>
            <a:off x="6400800" y="2788920"/>
            <a:ext cx="2286000" cy="548640"/>
          </a:xfrm>
          <a:prstGeom prst="rect">
            <a:avLst/>
          </a:prstGeom>
          <a:noFill/>
          <a:ln/>
        </p:spPr>
        <p:txBody>
          <a:bodyPr wrap="square" lIns="0" tIns="0" rIns="0" bIns="0" rtlCol="0" anchor="t"/>
          <a:lstStyle/>
          <a:p>
            <a:pPr indent="0" marL="0">
              <a:buNone/>
            </a:pPr>
            <a:r>
              <a:rPr lang="en-US" sz="1300" dirty="0">
                <a:solidFill>
                  <a:schemeClr val="tx2"/>
                </a:solidFill>
              </a:rPr>
              <a:t>of the 2025 statements are still wrong: old errors live on in the balances</a:t>
            </a:r>
            <a:endParaRPr lang="en-US" sz="1300" dirty="0"/>
          </a:p>
        </p:txBody>
      </p:sp>
      <p:sp>
        <p:nvSpPr>
          <p:cNvPr id="8" name="Era value 3"/>
          <p:cNvSpPr txBox="1"/>
          <p:nvPr/>
        </p:nvSpPr>
        <p:spPr>
          <a:xfrm>
            <a:off x="6400800" y="3429000"/>
            <a:ext cx="2286000" cy="502920"/>
          </a:xfrm>
          <a:prstGeom prst="rect">
            <a:avLst/>
          </a:prstGeom>
          <a:noFill/>
          <a:ln/>
        </p:spPr>
        <p:txBody>
          <a:bodyPr wrap="square" lIns="0" tIns="0" rIns="0" bIns="0" rtlCol="0" anchor="ctr"/>
          <a:lstStyle/>
          <a:p>
            <a:pPr indent="0" marL="0">
              <a:buNone/>
            </a:pPr>
            <a:r>
              <a:rPr lang="en-US" sz="3000" b="1" dirty="0">
                <a:solidFill>
                  <a:schemeClr val="accent3"/>
                </a:solidFill>
                <a:latin typeface="Times New Roman" pitchFamily="34" charset="0"/>
                <a:ea typeface="Times New Roman" pitchFamily="34" charset="-122"/>
                <a:cs typeface="Times New Roman" pitchFamily="34" charset="-120"/>
              </a:rPr>
              <a:t>0 %</a:t>
            </a:r>
            <a:endParaRPr lang="en-US" sz="3000" dirty="0"/>
          </a:p>
        </p:txBody>
      </p:sp>
      <p:sp>
        <p:nvSpPr>
          <p:cNvPr id="9" name="Era label 3"/>
          <p:cNvSpPr txBox="1"/>
          <p:nvPr/>
        </p:nvSpPr>
        <p:spPr>
          <a:xfrm>
            <a:off x="6400800" y="3931920"/>
            <a:ext cx="2286000" cy="548640"/>
          </a:xfrm>
          <a:prstGeom prst="rect">
            <a:avLst/>
          </a:prstGeom>
          <a:noFill/>
          <a:ln/>
        </p:spPr>
        <p:txBody>
          <a:bodyPr wrap="square" lIns="0" tIns="0" rIns="0" bIns="0" rtlCol="0" anchor="t"/>
          <a:lstStyle/>
          <a:p>
            <a:pPr indent="0" marL="0">
              <a:buNone/>
            </a:pPr>
            <a:r>
              <a:rPr lang="en-US" sz="1300" dirty="0">
                <a:solidFill>
                  <a:schemeClr val="tx2"/>
                </a:solidFill>
              </a:rPr>
              <a:t>with our era rules, apart from the manual corrections</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Every remaining miss is a manual correction</a:t>
            </a:r>
            <a:endParaRPr lang="en-US" sz="3000" dirty="0"/>
          </a:p>
        </p:txBody>
      </p:sp>
      <p:sp>
        <p:nvSpPr>
          <p:cNvPr id="3" name="Task card t0"/>
          <p:cNvSpPr/>
          <p:nvPr/>
        </p:nvSpPr>
        <p:spPr>
          <a:xfrm>
            <a:off x="457200" y="1143000"/>
            <a:ext cx="1554480" cy="1143000"/>
          </a:xfrm>
          <a:prstGeom prst="roundRect">
            <a:avLst>
              <a:gd name="adj" fmla="val 6400"/>
            </a:avLst>
          </a:prstGeom>
          <a:solidFill>
            <a:schemeClr val="bg2"/>
          </a:solidFill>
          <a:ln w="12700">
            <a:solidFill>
              <a:schemeClr val="bg2"/>
            </a:solidFill>
            <a:prstDash val="solid"/>
          </a:ln>
        </p:spPr>
      </p:sp>
      <p:sp>
        <p:nvSpPr>
          <p:cNvPr id="4" name="Task name t0"/>
          <p:cNvSpPr txBox="1"/>
          <p:nvPr/>
        </p:nvSpPr>
        <p:spPr>
          <a:xfrm>
            <a:off x="566928" y="1234440"/>
            <a:ext cx="1371600" cy="320040"/>
          </a:xfrm>
          <a:prstGeom prst="rect">
            <a:avLst/>
          </a:prstGeom>
          <a:noFill/>
          <a:ln/>
        </p:spPr>
        <p:txBody>
          <a:bodyPr wrap="square" lIns="0" tIns="0" rIns="0" bIns="0" rtlCol="0" anchor="ctr"/>
          <a:lstStyle/>
          <a:p>
            <a:pPr indent="0" marL="0">
              <a:buNone/>
            </a:pPr>
            <a:r>
              <a:rPr lang="en-US" sz="1200" dirty="0">
                <a:solidFill>
                  <a:schemeClr val="tx2"/>
                </a:solidFill>
              </a:rPr>
              <a:t>t0  Commission</a:t>
            </a:r>
            <a:endParaRPr lang="en-US" sz="1200" dirty="0"/>
          </a:p>
        </p:txBody>
      </p:sp>
      <p:sp>
        <p:nvSpPr>
          <p:cNvPr id="5" name="Task score t0"/>
          <p:cNvSpPr txBox="1"/>
          <p:nvPr/>
        </p:nvSpPr>
        <p:spPr>
          <a:xfrm>
            <a:off x="566928" y="1600200"/>
            <a:ext cx="1371600" cy="50292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99.996 %</a:t>
            </a:r>
            <a:endParaRPr lang="en-US" sz="2400" dirty="0"/>
          </a:p>
        </p:txBody>
      </p:sp>
      <p:sp>
        <p:nvSpPr>
          <p:cNvPr id="6" name="Task card t1"/>
          <p:cNvSpPr/>
          <p:nvPr/>
        </p:nvSpPr>
        <p:spPr>
          <a:xfrm>
            <a:off x="2125980" y="1143000"/>
            <a:ext cx="1554480" cy="1143000"/>
          </a:xfrm>
          <a:prstGeom prst="roundRect">
            <a:avLst>
              <a:gd name="adj" fmla="val 6400"/>
            </a:avLst>
          </a:prstGeom>
          <a:solidFill>
            <a:schemeClr val="bg2"/>
          </a:solidFill>
          <a:ln w="12700">
            <a:solidFill>
              <a:schemeClr val="bg2"/>
            </a:solidFill>
            <a:prstDash val="solid"/>
          </a:ln>
        </p:spPr>
      </p:sp>
      <p:sp>
        <p:nvSpPr>
          <p:cNvPr id="7" name="Task name t1"/>
          <p:cNvSpPr txBox="1"/>
          <p:nvPr/>
        </p:nvSpPr>
        <p:spPr>
          <a:xfrm>
            <a:off x="2235708" y="1234440"/>
            <a:ext cx="1371600" cy="320040"/>
          </a:xfrm>
          <a:prstGeom prst="rect">
            <a:avLst/>
          </a:prstGeom>
          <a:noFill/>
          <a:ln/>
        </p:spPr>
        <p:txBody>
          <a:bodyPr wrap="square" lIns="0" tIns="0" rIns="0" bIns="0" rtlCol="0" anchor="ctr"/>
          <a:lstStyle/>
          <a:p>
            <a:pPr indent="0" marL="0">
              <a:buNone/>
            </a:pPr>
            <a:r>
              <a:rPr lang="en-US" sz="1200" dirty="0">
                <a:solidFill>
                  <a:schemeClr val="tx2"/>
                </a:solidFill>
              </a:rPr>
              <a:t>t1  Due dates</a:t>
            </a:r>
            <a:endParaRPr lang="en-US" sz="1200" dirty="0"/>
          </a:p>
        </p:txBody>
      </p:sp>
      <p:sp>
        <p:nvSpPr>
          <p:cNvPr id="8" name="Task score t1"/>
          <p:cNvSpPr txBox="1"/>
          <p:nvPr/>
        </p:nvSpPr>
        <p:spPr>
          <a:xfrm>
            <a:off x="2235708" y="1600200"/>
            <a:ext cx="1371600" cy="50292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100 %</a:t>
            </a:r>
            <a:endParaRPr lang="en-US" sz="2400" dirty="0"/>
          </a:p>
        </p:txBody>
      </p:sp>
      <p:sp>
        <p:nvSpPr>
          <p:cNvPr id="9" name="Task card t2"/>
          <p:cNvSpPr/>
          <p:nvPr/>
        </p:nvSpPr>
        <p:spPr>
          <a:xfrm>
            <a:off x="3794760" y="1143000"/>
            <a:ext cx="1554480" cy="1143000"/>
          </a:xfrm>
          <a:prstGeom prst="roundRect">
            <a:avLst>
              <a:gd name="adj" fmla="val 6400"/>
            </a:avLst>
          </a:prstGeom>
          <a:solidFill>
            <a:schemeClr val="bg2"/>
          </a:solidFill>
          <a:ln w="12700">
            <a:solidFill>
              <a:schemeClr val="bg2"/>
            </a:solidFill>
            <a:prstDash val="solid"/>
          </a:ln>
        </p:spPr>
      </p:sp>
      <p:sp>
        <p:nvSpPr>
          <p:cNvPr id="10" name="Task name t2"/>
          <p:cNvSpPr txBox="1"/>
          <p:nvPr/>
        </p:nvSpPr>
        <p:spPr>
          <a:xfrm>
            <a:off x="3904488" y="1234440"/>
            <a:ext cx="1371600" cy="320040"/>
          </a:xfrm>
          <a:prstGeom prst="rect">
            <a:avLst/>
          </a:prstGeom>
          <a:noFill/>
          <a:ln/>
        </p:spPr>
        <p:txBody>
          <a:bodyPr wrap="square" lIns="0" tIns="0" rIns="0" bIns="0" rtlCol="0" anchor="ctr"/>
          <a:lstStyle/>
          <a:p>
            <a:pPr indent="0" marL="0">
              <a:buNone/>
            </a:pPr>
            <a:r>
              <a:rPr lang="en-US" sz="1200" dirty="0">
                <a:solidFill>
                  <a:schemeClr val="tx2"/>
                </a:solidFill>
              </a:rPr>
              <a:t>t2  Maturity value</a:t>
            </a:r>
            <a:endParaRPr lang="en-US" sz="1200" dirty="0"/>
          </a:p>
        </p:txBody>
      </p:sp>
      <p:sp>
        <p:nvSpPr>
          <p:cNvPr id="11" name="Task score t2"/>
          <p:cNvSpPr txBox="1"/>
          <p:nvPr/>
        </p:nvSpPr>
        <p:spPr>
          <a:xfrm>
            <a:off x="3904488" y="1600200"/>
            <a:ext cx="1371600" cy="50292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99.735 %</a:t>
            </a:r>
            <a:endParaRPr lang="en-US" sz="2400" dirty="0"/>
          </a:p>
        </p:txBody>
      </p:sp>
      <p:sp>
        <p:nvSpPr>
          <p:cNvPr id="12" name="Task card t3"/>
          <p:cNvSpPr/>
          <p:nvPr/>
        </p:nvSpPr>
        <p:spPr>
          <a:xfrm>
            <a:off x="5463540" y="1143000"/>
            <a:ext cx="1554480" cy="1143000"/>
          </a:xfrm>
          <a:prstGeom prst="roundRect">
            <a:avLst>
              <a:gd name="adj" fmla="val 6400"/>
            </a:avLst>
          </a:prstGeom>
          <a:solidFill>
            <a:schemeClr val="bg2"/>
          </a:solidFill>
          <a:ln w="12700">
            <a:solidFill>
              <a:schemeClr val="bg2"/>
            </a:solidFill>
            <a:prstDash val="solid"/>
          </a:ln>
        </p:spPr>
      </p:sp>
      <p:sp>
        <p:nvSpPr>
          <p:cNvPr id="13" name="Task name t3"/>
          <p:cNvSpPr txBox="1"/>
          <p:nvPr/>
        </p:nvSpPr>
        <p:spPr>
          <a:xfrm>
            <a:off x="5573268" y="1234440"/>
            <a:ext cx="1371600" cy="320040"/>
          </a:xfrm>
          <a:prstGeom prst="rect">
            <a:avLst/>
          </a:prstGeom>
          <a:noFill/>
          <a:ln/>
        </p:spPr>
        <p:txBody>
          <a:bodyPr wrap="square" lIns="0" tIns="0" rIns="0" bIns="0" rtlCol="0" anchor="ctr"/>
          <a:lstStyle/>
          <a:p>
            <a:pPr indent="0" marL="0">
              <a:buNone/>
            </a:pPr>
            <a:r>
              <a:rPr lang="en-US" sz="1200" dirty="0">
                <a:solidFill>
                  <a:schemeClr val="tx2"/>
                </a:solidFill>
              </a:rPr>
              <a:t>t3  Surrender value</a:t>
            </a:r>
            <a:endParaRPr lang="en-US" sz="1200" dirty="0"/>
          </a:p>
        </p:txBody>
      </p:sp>
      <p:sp>
        <p:nvSpPr>
          <p:cNvPr id="14" name="Task score t3"/>
          <p:cNvSpPr txBox="1"/>
          <p:nvPr/>
        </p:nvSpPr>
        <p:spPr>
          <a:xfrm>
            <a:off x="5573268" y="1600200"/>
            <a:ext cx="1371600" cy="50292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99.740 %</a:t>
            </a:r>
            <a:endParaRPr lang="en-US" sz="2400" dirty="0"/>
          </a:p>
        </p:txBody>
      </p:sp>
      <p:sp>
        <p:nvSpPr>
          <p:cNvPr id="15" name="Task card t4"/>
          <p:cNvSpPr/>
          <p:nvPr/>
        </p:nvSpPr>
        <p:spPr>
          <a:xfrm>
            <a:off x="7132320" y="1143000"/>
            <a:ext cx="1554480" cy="1143000"/>
          </a:xfrm>
          <a:prstGeom prst="roundRect">
            <a:avLst>
              <a:gd name="adj" fmla="val 6400"/>
            </a:avLst>
          </a:prstGeom>
          <a:solidFill>
            <a:schemeClr val="bg2"/>
          </a:solidFill>
          <a:ln w="12700">
            <a:solidFill>
              <a:schemeClr val="bg2"/>
            </a:solidFill>
            <a:prstDash val="solid"/>
          </a:ln>
        </p:spPr>
      </p:sp>
      <p:sp>
        <p:nvSpPr>
          <p:cNvPr id="16" name="Task name t4"/>
          <p:cNvSpPr txBox="1"/>
          <p:nvPr/>
        </p:nvSpPr>
        <p:spPr>
          <a:xfrm>
            <a:off x="7242048" y="1234440"/>
            <a:ext cx="1371600" cy="320040"/>
          </a:xfrm>
          <a:prstGeom prst="rect">
            <a:avLst/>
          </a:prstGeom>
          <a:noFill/>
          <a:ln/>
        </p:spPr>
        <p:txBody>
          <a:bodyPr wrap="square" lIns="0" tIns="0" rIns="0" bIns="0" rtlCol="0" anchor="ctr"/>
          <a:lstStyle/>
          <a:p>
            <a:pPr indent="0" marL="0">
              <a:buNone/>
            </a:pPr>
            <a:r>
              <a:rPr lang="en-US" sz="1200" dirty="0">
                <a:solidFill>
                  <a:schemeClr val="tx2"/>
                </a:solidFill>
              </a:rPr>
              <a:t>t4  Annual statement</a:t>
            </a:r>
            <a:endParaRPr lang="en-US" sz="1200" dirty="0"/>
          </a:p>
        </p:txBody>
      </p:sp>
      <p:sp>
        <p:nvSpPr>
          <p:cNvPr id="17" name="Task score t4"/>
          <p:cNvSpPr txBox="1"/>
          <p:nvPr/>
        </p:nvSpPr>
        <p:spPr>
          <a:xfrm>
            <a:off x="7242048" y="1600200"/>
            <a:ext cx="1371600" cy="502920"/>
          </a:xfrm>
          <a:prstGeom prst="rect">
            <a:avLst/>
          </a:prstGeom>
          <a:noFill/>
          <a:ln/>
        </p:spPr>
        <p:txBody>
          <a:bodyPr wrap="square" lIns="0" tIns="0" rIns="0" bIns="0" rtlCol="0" anchor="ctr"/>
          <a:lstStyle/>
          <a:p>
            <a:pPr indent="0" marL="0">
              <a:buNone/>
            </a:pPr>
            <a:r>
              <a:rPr lang="en-US" sz="2400" b="1" dirty="0">
                <a:solidFill>
                  <a:schemeClr val="accent3"/>
                </a:solidFill>
                <a:latin typeface="Times New Roman" pitchFamily="34" charset="0"/>
                <a:ea typeface="Times New Roman" pitchFamily="34" charset="-122"/>
                <a:cs typeface="Times New Roman" pitchFamily="34" charset="-120"/>
              </a:rPr>
              <a:t>99.939 %</a:t>
            </a:r>
            <a:endParaRPr lang="en-US" sz="2400" dirty="0"/>
          </a:p>
        </p:txBody>
      </p:sp>
      <p:sp>
        <p:nvSpPr>
          <p:cNvPr id="18" name="Callout value 1"/>
          <p:cNvSpPr txBox="1"/>
          <p:nvPr/>
        </p:nvSpPr>
        <p:spPr>
          <a:xfrm>
            <a:off x="457200" y="2606040"/>
            <a:ext cx="4023360" cy="777240"/>
          </a:xfrm>
          <a:prstGeom prst="rect">
            <a:avLst/>
          </a:prstGeom>
          <a:noFill/>
          <a:ln/>
        </p:spPr>
        <p:txBody>
          <a:bodyPr wrap="square" lIns="0" tIns="0" rIns="0" bIns="0" rtlCol="0" anchor="ctr"/>
          <a:lstStyle/>
          <a:p>
            <a:pPr indent="0" marL="0">
              <a:buNone/>
            </a:pPr>
            <a:r>
              <a:rPr lang="en-US" sz="4400" b="1" dirty="0">
                <a:solidFill>
                  <a:schemeClr val="tx1"/>
                </a:solidFill>
                <a:latin typeface="Times New Roman" pitchFamily="34" charset="0"/>
                <a:ea typeface="Times New Roman" pitchFamily="34" charset="-122"/>
                <a:cs typeface="Times New Roman" pitchFamily="34" charset="-120"/>
              </a:rPr>
              <a:t>5,024,847</a:t>
            </a:r>
            <a:endParaRPr lang="en-US" sz="4400" dirty="0"/>
          </a:p>
        </p:txBody>
      </p:sp>
      <p:sp>
        <p:nvSpPr>
          <p:cNvPr id="19" name="Callout label 1"/>
          <p:cNvSpPr txBox="1"/>
          <p:nvPr/>
        </p:nvSpPr>
        <p:spPr>
          <a:xfrm>
            <a:off x="457200" y="3383280"/>
            <a:ext cx="3840480" cy="594360"/>
          </a:xfrm>
          <a:prstGeom prst="rect">
            <a:avLst/>
          </a:prstGeom>
          <a:noFill/>
          <a:ln/>
        </p:spPr>
        <p:txBody>
          <a:bodyPr wrap="square" lIns="0" tIns="0" rIns="0" bIns="0" rtlCol="0" anchor="t"/>
          <a:lstStyle/>
          <a:p>
            <a:pPr indent="0" marL="0">
              <a:buNone/>
            </a:pPr>
            <a:r>
              <a:rPr lang="en-US" sz="1500" dirty="0">
                <a:solidFill>
                  <a:schemeClr val="tx2"/>
                </a:solidFill>
              </a:rPr>
              <a:t>fund bookings recalculated from scratch: all exact except 3 changed by hand</a:t>
            </a:r>
            <a:endParaRPr lang="en-US" sz="1500" dirty="0"/>
          </a:p>
        </p:txBody>
      </p:sp>
      <p:sp>
        <p:nvSpPr>
          <p:cNvPr id="20" name="Callout value 2"/>
          <p:cNvSpPr txBox="1"/>
          <p:nvPr/>
        </p:nvSpPr>
        <p:spPr>
          <a:xfrm>
            <a:off x="4663440" y="2606040"/>
            <a:ext cx="4023360" cy="777240"/>
          </a:xfrm>
          <a:prstGeom prst="rect">
            <a:avLst/>
          </a:prstGeom>
          <a:noFill/>
          <a:ln/>
        </p:spPr>
        <p:txBody>
          <a:bodyPr wrap="square" lIns="0" tIns="0" rIns="0" bIns="0" rtlCol="0" anchor="ctr"/>
          <a:lstStyle/>
          <a:p>
            <a:pPr indent="0" marL="0">
              <a:buNone/>
            </a:pPr>
            <a:r>
              <a:rPr lang="en-US" sz="4400" b="1" dirty="0">
                <a:solidFill>
                  <a:schemeClr val="accent1"/>
                </a:solidFill>
                <a:latin typeface="Times New Roman" pitchFamily="34" charset="0"/>
                <a:ea typeface="Times New Roman" pitchFamily="34" charset="-122"/>
                <a:cs typeface="Times New Roman" pitchFamily="34" charset="-120"/>
              </a:rPr>
              <a:t>55</a:t>
            </a:r>
            <a:endParaRPr lang="en-US" sz="4400" dirty="0"/>
          </a:p>
        </p:txBody>
      </p:sp>
      <p:sp>
        <p:nvSpPr>
          <p:cNvPr id="21" name="Callout label 2"/>
          <p:cNvSpPr txBox="1"/>
          <p:nvPr/>
        </p:nvSpPr>
        <p:spPr>
          <a:xfrm>
            <a:off x="4663440" y="3383280"/>
            <a:ext cx="3840480" cy="594360"/>
          </a:xfrm>
          <a:prstGeom prst="rect">
            <a:avLst/>
          </a:prstGeom>
          <a:noFill/>
          <a:ln/>
        </p:spPr>
        <p:txBody>
          <a:bodyPr wrap="square" lIns="0" tIns="0" rIns="0" bIns="0" rtlCol="0" anchor="t"/>
          <a:lstStyle/>
          <a:p>
            <a:pPr indent="0" marL="0">
              <a:buNone/>
            </a:pPr>
            <a:r>
              <a:rPr lang="en-US" sz="1500" dirty="0">
                <a:solidFill>
                  <a:schemeClr val="tx2"/>
                </a:solidFill>
              </a:rPr>
              <a:t>hand-edited values found automatically (t5): all 38 listed ones and 17 new</a:t>
            </a:r>
            <a:endParaRPr lang="en-US" sz="1500" dirty="0"/>
          </a:p>
        </p:txBody>
      </p:sp>
      <p:sp>
        <p:nvSpPr>
          <p:cNvPr id="22" name="Results caption"/>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100" dirty="0">
                <a:solidFill>
                  <a:schemeClr val="accent4"/>
                </a:solidFill>
              </a:rPr>
              <a:t>Train set, official scoring  ·  t0–t5 run in 1.5 minutes  ·  maintainability index 68</a:t>
            </a:r>
            <a:endParaRPr lang="en-US" sz="11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t"/>
          <a:lstStyle/>
          <a:p>
            <a:pPr indent="0" marL="0">
              <a:buNone/>
            </a:pPr>
            <a:r>
              <a:rPr lang="en-US" sz="3000" b="1" dirty="0">
                <a:solidFill>
                  <a:schemeClr val="tx1"/>
                </a:solidFill>
                <a:latin typeface="Times New Roman" pitchFamily="34" charset="0"/>
                <a:ea typeface="Times New Roman" pitchFamily="34" charset="-122"/>
                <a:cs typeface="Times New Roman" pitchFamily="34" charset="-120"/>
              </a:rPr>
              <a:t>Surprise t7: the tax audit, without targets</a:t>
            </a:r>
            <a:endParaRPr lang="en-US" sz="3000" dirty="0"/>
          </a:p>
        </p:txBody>
      </p:sp>
      <p:sp>
        <p:nvSpPr>
          <p:cNvPr id="3" name="t7 circle 1"/>
          <p:cNvSpPr/>
          <p:nvPr/>
        </p:nvSpPr>
        <p:spPr>
          <a:xfrm>
            <a:off x="457200" y="1143000"/>
            <a:ext cx="548640" cy="548640"/>
          </a:xfrm>
          <a:prstGeom prst="ellipse">
            <a:avLst/>
          </a:prstGeom>
          <a:solidFill>
            <a:schemeClr val="accent1"/>
          </a:solidFill>
          <a:ln w="12700">
            <a:solidFill>
              <a:schemeClr val="accent1"/>
            </a:solidFill>
            <a:prstDash val="solid"/>
          </a:ln>
        </p:spPr>
      </p:sp>
      <p:pic>
        <p:nvPicPr>
          <p:cNvPr id="4" name="t7 icon 1" descr="Weak labels">    </p:cNvPr>
          <p:cNvPicPr>
            <a:picLocks noChangeAspect="1"/>
          </p:cNvPicPr>
          <p:nvPr/>
        </p:nvPicPr>
        <p:blipFill>
          <a:blip r:embed="rId1"/>
          <a:stretch>
            <a:fillRect/>
          </a:stretch>
        </p:blipFill>
        <p:spPr>
          <a:xfrm>
            <a:off x="594360" y="1280160"/>
            <a:ext cx="274320" cy="274320"/>
          </a:xfrm>
          <a:prstGeom prst="rect">
            <a:avLst/>
          </a:prstGeom>
        </p:spPr>
      </p:pic>
      <p:sp>
        <p:nvSpPr>
          <p:cNvPr id="5" name="t7 name 1"/>
          <p:cNvSpPr txBox="1"/>
          <p:nvPr/>
        </p:nvSpPr>
        <p:spPr>
          <a:xfrm>
            <a:off x="1188720" y="1124712"/>
            <a:ext cx="3566160" cy="320040"/>
          </a:xfrm>
          <a:prstGeom prst="rect">
            <a:avLst/>
          </a:prstGeom>
          <a:noFill/>
          <a:ln/>
        </p:spPr>
        <p:txBody>
          <a:bodyPr wrap="square" lIns="0" tIns="0" rIns="0" bIns="0" rtlCol="0" anchor="ctr"/>
          <a:lstStyle/>
          <a:p>
            <a:pPr indent="0" marL="0">
              <a:buNone/>
            </a:pPr>
            <a:r>
              <a:rPr lang="en-US" sz="1600" b="1" dirty="0">
                <a:solidFill>
                  <a:schemeClr val="tx1"/>
                </a:solidFill>
              </a:rPr>
              <a:t>Weak labels</a:t>
            </a:r>
            <a:endParaRPr lang="en-US" sz="1600" dirty="0"/>
          </a:p>
        </p:txBody>
      </p:sp>
      <p:sp>
        <p:nvSpPr>
          <p:cNvPr id="6" name="t7 text 1"/>
          <p:cNvSpPr txBox="1"/>
          <p:nvPr/>
        </p:nvSpPr>
        <p:spPr>
          <a:xfrm>
            <a:off x="1188720" y="1444752"/>
            <a:ext cx="3566160" cy="548640"/>
          </a:xfrm>
          <a:prstGeom prst="rect">
            <a:avLst/>
          </a:prstGeom>
          <a:noFill/>
          <a:ln/>
        </p:spPr>
        <p:txBody>
          <a:bodyPr wrap="square" lIns="0" tIns="0" rIns="0" bIns="0" rtlCol="0" anchor="t"/>
          <a:lstStyle/>
          <a:p>
            <a:pPr indent="0" marL="0">
              <a:buNone/>
            </a:pPr>
            <a:r>
              <a:rPr lang="en-US" sz="1300" dirty="0">
                <a:solidFill>
                  <a:schemeClr val="tx2"/>
                </a:solidFill>
              </a:rPr>
              <a:t>Neuron's tax bookings say which tax applied; our rules must book the same ones</a:t>
            </a:r>
            <a:endParaRPr lang="en-US" sz="1300" dirty="0"/>
          </a:p>
        </p:txBody>
      </p:sp>
      <p:sp>
        <p:nvSpPr>
          <p:cNvPr id="7" name="t7 circle 2"/>
          <p:cNvSpPr/>
          <p:nvPr/>
        </p:nvSpPr>
        <p:spPr>
          <a:xfrm>
            <a:off x="457200" y="2194560"/>
            <a:ext cx="548640" cy="548640"/>
          </a:xfrm>
          <a:prstGeom prst="ellipse">
            <a:avLst/>
          </a:prstGeom>
          <a:solidFill>
            <a:schemeClr val="accent1"/>
          </a:solidFill>
          <a:ln w="12700">
            <a:solidFill>
              <a:schemeClr val="accent1"/>
            </a:solidFill>
            <a:prstDash val="solid"/>
          </a:ln>
        </p:spPr>
      </p:sp>
      <p:pic>
        <p:nvPicPr>
          <p:cNvPr id="8" name="t7 icon 2" descr="Task examples">    </p:cNvPr>
          <p:cNvPicPr>
            <a:picLocks noChangeAspect="1"/>
          </p:cNvPicPr>
          <p:nvPr/>
        </p:nvPicPr>
        <p:blipFill>
          <a:blip r:embed="rId2"/>
          <a:stretch>
            <a:fillRect/>
          </a:stretch>
        </p:blipFill>
        <p:spPr>
          <a:xfrm>
            <a:off x="594360" y="2331720"/>
            <a:ext cx="274320" cy="274320"/>
          </a:xfrm>
          <a:prstGeom prst="rect">
            <a:avLst/>
          </a:prstGeom>
        </p:spPr>
      </p:pic>
      <p:sp>
        <p:nvSpPr>
          <p:cNvPr id="9" name="t7 name 2"/>
          <p:cNvSpPr txBox="1"/>
          <p:nvPr/>
        </p:nvSpPr>
        <p:spPr>
          <a:xfrm>
            <a:off x="1188720" y="2176272"/>
            <a:ext cx="3566160" cy="320040"/>
          </a:xfrm>
          <a:prstGeom prst="rect">
            <a:avLst/>
          </a:prstGeom>
          <a:noFill/>
          <a:ln/>
        </p:spPr>
        <p:txBody>
          <a:bodyPr wrap="square" lIns="0" tIns="0" rIns="0" bIns="0" rtlCol="0" anchor="ctr"/>
          <a:lstStyle/>
          <a:p>
            <a:pPr indent="0" marL="0">
              <a:buNone/>
            </a:pPr>
            <a:r>
              <a:rPr lang="en-US" sz="1600" b="1" dirty="0">
                <a:solidFill>
                  <a:schemeClr val="tx1"/>
                </a:solidFill>
              </a:rPr>
              <a:t>Task examples</a:t>
            </a:r>
            <a:endParaRPr lang="en-US" sz="1600" dirty="0"/>
          </a:p>
        </p:txBody>
      </p:sp>
      <p:sp>
        <p:nvSpPr>
          <p:cNvPr id="10" name="t7 text 2"/>
          <p:cNvSpPr txBox="1"/>
          <p:nvPr/>
        </p:nvSpPr>
        <p:spPr>
          <a:xfrm>
            <a:off x="1188720" y="2496312"/>
            <a:ext cx="3566160" cy="548640"/>
          </a:xfrm>
          <a:prstGeom prst="rect">
            <a:avLst/>
          </a:prstGeom>
          <a:noFill/>
          <a:ln/>
        </p:spPr>
        <p:txBody>
          <a:bodyPr wrap="square" lIns="0" tIns="0" rIns="0" bIns="0" rtlCol="0" anchor="t"/>
          <a:lstStyle/>
          <a:p>
            <a:pPr indent="0" marL="0">
              <a:buNone/>
            </a:pPr>
            <a:r>
              <a:rPr lang="en-US" sz="1300" dirty="0">
                <a:solidFill>
                  <a:schemeClr val="tx2"/>
                </a:solidFill>
              </a:rPr>
              <a:t>A convention search finds the only rules that give 5,628.16 and 616.11</a:t>
            </a:r>
            <a:endParaRPr lang="en-US" sz="1300" dirty="0"/>
          </a:p>
        </p:txBody>
      </p:sp>
      <p:sp>
        <p:nvSpPr>
          <p:cNvPr id="11" name="t7 circle 3"/>
          <p:cNvSpPr/>
          <p:nvPr/>
        </p:nvSpPr>
        <p:spPr>
          <a:xfrm>
            <a:off x="457200" y="3246120"/>
            <a:ext cx="548640" cy="548640"/>
          </a:xfrm>
          <a:prstGeom prst="ellipse">
            <a:avLst/>
          </a:prstGeom>
          <a:solidFill>
            <a:schemeClr val="accent1"/>
          </a:solidFill>
          <a:ln w="12700">
            <a:solidFill>
              <a:schemeClr val="accent1"/>
            </a:solidFill>
            <a:prstDash val="solid"/>
          </a:ln>
        </p:spPr>
      </p:sp>
      <p:pic>
        <p:nvPicPr>
          <p:cNvPr id="12" name="t7 icon 3" descr="Consistency">    </p:cNvPr>
          <p:cNvPicPr>
            <a:picLocks noChangeAspect="1"/>
          </p:cNvPicPr>
          <p:nvPr/>
        </p:nvPicPr>
        <p:blipFill>
          <a:blip r:embed="rId3"/>
          <a:stretch>
            <a:fillRect/>
          </a:stretch>
        </p:blipFill>
        <p:spPr>
          <a:xfrm>
            <a:off x="594360" y="3383280"/>
            <a:ext cx="274320" cy="274320"/>
          </a:xfrm>
          <a:prstGeom prst="rect">
            <a:avLst/>
          </a:prstGeom>
        </p:spPr>
      </p:pic>
      <p:sp>
        <p:nvSpPr>
          <p:cNvPr id="13" name="t7 name 3"/>
          <p:cNvSpPr txBox="1"/>
          <p:nvPr/>
        </p:nvSpPr>
        <p:spPr>
          <a:xfrm>
            <a:off x="1188720" y="3227832"/>
            <a:ext cx="3566160" cy="320040"/>
          </a:xfrm>
          <a:prstGeom prst="rect">
            <a:avLst/>
          </a:prstGeom>
          <a:noFill/>
          <a:ln/>
        </p:spPr>
        <p:txBody>
          <a:bodyPr wrap="square" lIns="0" tIns="0" rIns="0" bIns="0" rtlCol="0" anchor="ctr"/>
          <a:lstStyle/>
          <a:p>
            <a:pPr indent="0" marL="0">
              <a:buNone/>
            </a:pPr>
            <a:r>
              <a:rPr lang="en-US" sz="1600" b="1" dirty="0">
                <a:solidFill>
                  <a:schemeClr val="tx1"/>
                </a:solidFill>
              </a:rPr>
              <a:t>Consistency</a:t>
            </a:r>
            <a:endParaRPr lang="en-US" sz="1600" dirty="0"/>
          </a:p>
        </p:txBody>
      </p:sp>
      <p:sp>
        <p:nvSpPr>
          <p:cNvPr id="14" name="t7 text 3"/>
          <p:cNvSpPr txBox="1"/>
          <p:nvPr/>
        </p:nvSpPr>
        <p:spPr>
          <a:xfrm>
            <a:off x="1188720" y="3547872"/>
            <a:ext cx="3566160" cy="548640"/>
          </a:xfrm>
          <a:prstGeom prst="rect">
            <a:avLst/>
          </a:prstGeom>
          <a:noFill/>
          <a:ln/>
        </p:spPr>
        <p:txBody>
          <a:bodyPr wrap="square" lIns="0" tIns="0" rIns="0" bIns="0" rtlCol="0" anchor="t"/>
          <a:lstStyle/>
          <a:p>
            <a:pPr indent="0" marL="0">
              <a:buNone/>
            </a:pPr>
            <a:r>
              <a:rPr lang="en-US" sz="1300" dirty="0">
                <a:solidFill>
                  <a:schemeClr val="tx2"/>
                </a:solidFill>
              </a:rPr>
              <a:t>Every tax Neuron booked must get an amount</a:t>
            </a:r>
            <a:endParaRPr lang="en-US" sz="1300" dirty="0"/>
          </a:p>
        </p:txBody>
      </p:sp>
      <p:sp>
        <p:nvSpPr>
          <p:cNvPr id="15" name="t7 card 1"/>
          <p:cNvSpPr/>
          <p:nvPr/>
        </p:nvSpPr>
        <p:spPr>
          <a:xfrm>
            <a:off x="5120640" y="1097280"/>
            <a:ext cx="3566160" cy="914400"/>
          </a:xfrm>
          <a:prstGeom prst="roundRect">
            <a:avLst>
              <a:gd name="adj" fmla="val 8000"/>
            </a:avLst>
          </a:prstGeom>
          <a:solidFill>
            <a:schemeClr val="bg2"/>
          </a:solidFill>
          <a:ln w="12700">
            <a:solidFill>
              <a:schemeClr val="bg2"/>
            </a:solidFill>
            <a:prstDash val="solid"/>
          </a:ln>
        </p:spPr>
      </p:sp>
      <p:sp>
        <p:nvSpPr>
          <p:cNvPr id="16" name="t7 value 1"/>
          <p:cNvSpPr txBox="1"/>
          <p:nvPr/>
        </p:nvSpPr>
        <p:spPr>
          <a:xfrm>
            <a:off x="5303520" y="1170432"/>
            <a:ext cx="3200400" cy="457200"/>
          </a:xfrm>
          <a:prstGeom prst="rect">
            <a:avLst/>
          </a:prstGeom>
          <a:noFill/>
          <a:ln/>
        </p:spPr>
        <p:txBody>
          <a:bodyPr wrap="square" lIns="0" tIns="0" rIns="0" bIns="0" rtlCol="0" anchor="ctr"/>
          <a:lstStyle/>
          <a:p>
            <a:pPr indent="0" marL="0">
              <a:buNone/>
            </a:pPr>
            <a:r>
              <a:rPr lang="en-US" sz="2600" b="1" dirty="0">
                <a:solidFill>
                  <a:schemeClr val="accent3"/>
                </a:solidFill>
                <a:latin typeface="Times New Roman" pitchFamily="34" charset="0"/>
                <a:ea typeface="Times New Roman" pitchFamily="34" charset="-122"/>
                <a:cs typeface="Times New Roman" pitchFamily="34" charset="-120"/>
              </a:rPr>
              <a:t>2 of 2</a:t>
            </a:r>
            <a:endParaRPr lang="en-US" sz="2600" dirty="0"/>
          </a:p>
        </p:txBody>
      </p:sp>
      <p:sp>
        <p:nvSpPr>
          <p:cNvPr id="17" name="t7 label 1"/>
          <p:cNvSpPr txBox="1"/>
          <p:nvPr/>
        </p:nvSpPr>
        <p:spPr>
          <a:xfrm>
            <a:off x="5303520" y="1627632"/>
            <a:ext cx="3200400" cy="320040"/>
          </a:xfrm>
          <a:prstGeom prst="rect">
            <a:avLst/>
          </a:prstGeom>
          <a:noFill/>
          <a:ln/>
        </p:spPr>
        <p:txBody>
          <a:bodyPr wrap="square" lIns="0" tIns="0" rIns="0" bIns="0" rtlCol="0" anchor="ctr"/>
          <a:lstStyle/>
          <a:p>
            <a:pPr indent="0" marL="0">
              <a:buNone/>
            </a:pPr>
            <a:r>
              <a:rPr lang="en-US" sz="1300" dirty="0">
                <a:solidFill>
                  <a:schemeClr val="tx2"/>
                </a:solidFill>
              </a:rPr>
              <a:t>examples of the task exact to the cent</a:t>
            </a:r>
            <a:endParaRPr lang="en-US" sz="1300" dirty="0"/>
          </a:p>
        </p:txBody>
      </p:sp>
      <p:sp>
        <p:nvSpPr>
          <p:cNvPr id="18" name="t7 card 2"/>
          <p:cNvSpPr/>
          <p:nvPr/>
        </p:nvSpPr>
        <p:spPr>
          <a:xfrm>
            <a:off x="5120640" y="2148840"/>
            <a:ext cx="3566160" cy="914400"/>
          </a:xfrm>
          <a:prstGeom prst="roundRect">
            <a:avLst>
              <a:gd name="adj" fmla="val 8000"/>
            </a:avLst>
          </a:prstGeom>
          <a:solidFill>
            <a:schemeClr val="bg2"/>
          </a:solidFill>
          <a:ln w="12700">
            <a:solidFill>
              <a:schemeClr val="bg2"/>
            </a:solidFill>
            <a:prstDash val="solid"/>
          </a:ln>
        </p:spPr>
      </p:sp>
      <p:sp>
        <p:nvSpPr>
          <p:cNvPr id="19" name="t7 value 2"/>
          <p:cNvSpPr txBox="1"/>
          <p:nvPr/>
        </p:nvSpPr>
        <p:spPr>
          <a:xfrm>
            <a:off x="5303520" y="2221992"/>
            <a:ext cx="3200400" cy="457200"/>
          </a:xfrm>
          <a:prstGeom prst="rect">
            <a:avLst/>
          </a:prstGeom>
          <a:noFill/>
          <a:ln/>
        </p:spPr>
        <p:txBody>
          <a:bodyPr wrap="square" lIns="0" tIns="0" rIns="0" bIns="0" rtlCol="0" anchor="ctr"/>
          <a:lstStyle/>
          <a:p>
            <a:pPr indent="0" marL="0">
              <a:buNone/>
            </a:pPr>
            <a:r>
              <a:rPr lang="en-US" sz="2600" b="1" dirty="0">
                <a:solidFill>
                  <a:schemeClr val="accent3"/>
                </a:solidFill>
                <a:latin typeface="Times New Roman" pitchFamily="34" charset="0"/>
                <a:ea typeface="Times New Roman" pitchFamily="34" charset="-122"/>
                <a:cs typeface="Times New Roman" pitchFamily="34" charset="-120"/>
              </a:rPr>
              <a:t>793 of 793</a:t>
            </a:r>
            <a:endParaRPr lang="en-US" sz="2600" dirty="0"/>
          </a:p>
        </p:txBody>
      </p:sp>
      <p:sp>
        <p:nvSpPr>
          <p:cNvPr id="20" name="t7 label 2"/>
          <p:cNvSpPr txBox="1"/>
          <p:nvPr/>
        </p:nvSpPr>
        <p:spPr>
          <a:xfrm>
            <a:off x="5303520" y="2679192"/>
            <a:ext cx="3200400" cy="320040"/>
          </a:xfrm>
          <a:prstGeom prst="rect">
            <a:avLst/>
          </a:prstGeom>
          <a:noFill/>
          <a:ln/>
        </p:spPr>
        <p:txBody>
          <a:bodyPr wrap="square" lIns="0" tIns="0" rIns="0" bIns="0" rtlCol="0" anchor="ctr"/>
          <a:lstStyle/>
          <a:p>
            <a:pPr indent="0" marL="0">
              <a:buNone/>
            </a:pPr>
            <a:r>
              <a:rPr lang="en-US" sz="1300" dirty="0">
                <a:solidFill>
                  <a:schemeClr val="tx2"/>
                </a:solidFill>
              </a:rPr>
              <a:t>taxes booked by Neuron get an amount</a:t>
            </a:r>
            <a:endParaRPr lang="en-US" sz="1300" dirty="0"/>
          </a:p>
        </p:txBody>
      </p:sp>
      <p:sp>
        <p:nvSpPr>
          <p:cNvPr id="21" name="t7 card 3"/>
          <p:cNvSpPr/>
          <p:nvPr/>
        </p:nvSpPr>
        <p:spPr>
          <a:xfrm>
            <a:off x="5120640" y="3200400"/>
            <a:ext cx="3566160" cy="914400"/>
          </a:xfrm>
          <a:prstGeom prst="roundRect">
            <a:avLst>
              <a:gd name="adj" fmla="val 8000"/>
            </a:avLst>
          </a:prstGeom>
          <a:solidFill>
            <a:schemeClr val="bg2"/>
          </a:solidFill>
          <a:ln w="12700">
            <a:solidFill>
              <a:schemeClr val="bg2"/>
            </a:solidFill>
            <a:prstDash val="solid"/>
          </a:ln>
        </p:spPr>
      </p:sp>
      <p:sp>
        <p:nvSpPr>
          <p:cNvPr id="22" name="t7 value 3"/>
          <p:cNvSpPr txBox="1"/>
          <p:nvPr/>
        </p:nvSpPr>
        <p:spPr>
          <a:xfrm>
            <a:off x="5303520" y="3273552"/>
            <a:ext cx="3200400" cy="457200"/>
          </a:xfrm>
          <a:prstGeom prst="rect">
            <a:avLst/>
          </a:prstGeom>
          <a:noFill/>
          <a:ln/>
        </p:spPr>
        <p:txBody>
          <a:bodyPr wrap="square" lIns="0" tIns="0" rIns="0" bIns="0" rtlCol="0" anchor="ctr"/>
          <a:lstStyle/>
          <a:p>
            <a:pPr indent="0" marL="0">
              <a:buNone/>
            </a:pPr>
            <a:r>
              <a:rPr lang="en-US" sz="2600" b="1" dirty="0">
                <a:solidFill>
                  <a:schemeClr val="accent3"/>
                </a:solidFill>
                <a:latin typeface="Times New Roman" pitchFamily="34" charset="0"/>
                <a:ea typeface="Times New Roman" pitchFamily="34" charset="-122"/>
                <a:cs typeface="Times New Roman" pitchFamily="34" charset="-120"/>
              </a:rPr>
              <a:t>99.9 %</a:t>
            </a:r>
            <a:endParaRPr lang="en-US" sz="2600" dirty="0"/>
          </a:p>
        </p:txBody>
      </p:sp>
      <p:sp>
        <p:nvSpPr>
          <p:cNvPr id="23" name="t7 label 3"/>
          <p:cNvSpPr txBox="1"/>
          <p:nvPr/>
        </p:nvSpPr>
        <p:spPr>
          <a:xfrm>
            <a:off x="5303520" y="3730752"/>
            <a:ext cx="3200400" cy="320040"/>
          </a:xfrm>
          <a:prstGeom prst="rect">
            <a:avLst/>
          </a:prstGeom>
          <a:noFill/>
          <a:ln/>
        </p:spPr>
        <p:txBody>
          <a:bodyPr wrap="square" lIns="0" tIns="0" rIns="0" bIns="0" rtlCol="0" anchor="ctr"/>
          <a:lstStyle/>
          <a:p>
            <a:pPr indent="0" marL="0">
              <a:buNone/>
            </a:pPr>
            <a:r>
              <a:rPr lang="en-US" sz="1300" dirty="0">
                <a:solidFill>
                  <a:schemeClr val="tx2"/>
                </a:solidFill>
              </a:rPr>
              <a:t>agreement of the Swiss rule with Neuron</a:t>
            </a:r>
            <a:endParaRPr lang="en-US" sz="1300" dirty="0"/>
          </a:p>
        </p:txBody>
      </p:sp>
      <p:sp>
        <p:nvSpPr>
          <p:cNvPr id="25" name="Slide Number Placeholder 0"/>
          <p:cNvSpPr>
            <a:spLocks noGrp="1"/>
          </p:cNvSpPr>
          <p:nvPr>
            <p:ph type="sldNum" sz="quarter" idx="4294967295"/>
          </p:nvPr>
        </p:nvSpPr>
        <p:spPr>
          <a:xfrm>
            <a:off x="74066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ogo card"/>
          <p:cNvSpPr/>
          <p:nvPr/>
        </p:nvSpPr>
        <p:spPr>
          <a:xfrm>
            <a:off x="548640" y="411480"/>
            <a:ext cx="2377440" cy="1417320"/>
          </a:xfrm>
          <a:prstGeom prst="roundRect">
            <a:avLst>
              <a:gd name="adj" fmla="val 5161"/>
            </a:avLst>
          </a:prstGeom>
          <a:solidFill>
            <a:schemeClr val="bg1"/>
          </a:solidFill>
          <a:ln w="12700">
            <a:solidFill>
              <a:schemeClr val="bg1"/>
            </a:solidFill>
            <a:prstDash val="solid"/>
          </a:ln>
        </p:spPr>
      </p:sp>
      <p:pic>
        <p:nvPicPr>
          <p:cNvPr id="3" name="USI logo" descr="Università della Svizzera italiana logo">    </p:cNvPr>
          <p:cNvPicPr>
            <a:picLocks noChangeAspect="1"/>
          </p:cNvPicPr>
          <p:nvPr/>
        </p:nvPicPr>
        <p:blipFill>
          <a:blip r:embed="rId1"/>
          <a:stretch>
            <a:fillRect/>
          </a:stretch>
        </p:blipFill>
        <p:spPr>
          <a:xfrm>
            <a:off x="640080" y="502920"/>
            <a:ext cx="2194560" cy="1234440"/>
          </a:xfrm>
          <a:prstGeom prst="rect">
            <a:avLst/>
          </a:prstGeom>
        </p:spPr>
      </p:pic>
      <p:sp>
        <p:nvSpPr>
          <p:cNvPr id="4" name="Text 0"/>
          <p:cNvSpPr/>
          <p:nvPr>
            <p:ph idx="100" type="title" hasCustomPrompt="1"/>
          </p:nvPr>
        </p:nvSpPr>
        <p:spPr>
          <a:xfrm>
            <a:off x="548640" y="1874520"/>
            <a:ext cx="8046720" cy="777240"/>
          </a:xfrm>
          <a:prstGeom prst="rect">
            <a:avLst/>
          </a:prstGeom>
          <a:noFill/>
          <a:ln/>
        </p:spPr>
        <p:txBody>
          <a:bodyPr wrap="square" lIns="0" tIns="0" rIns="0" bIns="0" rtlCol="0" anchor="b"/>
          <a:lstStyle/>
          <a:p>
            <a:pPr algn="l" indent="0" marL="0">
              <a:buNone/>
            </a:pPr>
            <a:r>
              <a:rPr lang="en-US" sz="4000" b="1" dirty="0">
                <a:solidFill>
                  <a:schemeClr val="bg1"/>
                </a:solidFill>
                <a:latin typeface="Times New Roman" pitchFamily="34" charset="0"/>
                <a:ea typeface="Times New Roman" pitchFamily="34" charset="-122"/>
                <a:cs typeface="Times New Roman" pitchFamily="34" charset="-120"/>
              </a:rPr>
              <a:t>Thank you</a:t>
            </a:r>
            <a:endParaRPr lang="en-US" sz="4000" dirty="0"/>
          </a:p>
        </p:txBody>
      </p:sp>
      <p:sp>
        <p:nvSpPr>
          <p:cNvPr id="5" name="Text 0"/>
          <p:cNvSpPr/>
          <p:nvPr>
            <p:ph idx="101" type="body" hasCustomPrompt="1"/>
          </p:nvPr>
        </p:nvSpPr>
        <p:spPr>
          <a:xfrm>
            <a:off x="548640" y="2697480"/>
            <a:ext cx="8046720" cy="640080"/>
          </a:xfrm>
          <a:prstGeom prst="rect">
            <a:avLst/>
          </a:prstGeom>
          <a:noFill/>
          <a:ln/>
        </p:spPr>
        <p:txBody>
          <a:bodyPr wrap="square" lIns="0" tIns="0" rIns="0" bIns="0" rtlCol="0" anchor="t"/>
          <a:lstStyle/>
          <a:p>
            <a:pPr algn="l" indent="0" marL="0">
              <a:buNone/>
            </a:pPr>
            <a:r>
              <a:rPr lang="en-US" sz="1800" dirty="0">
                <a:solidFill>
                  <a:schemeClr val="accent6"/>
                </a:solidFill>
              </a:rPr>
              <a:t>Questions are welcome</a:t>
            </a:r>
            <a:endParaRPr lang="en-US" sz="1800" dirty="0"/>
          </a:p>
        </p:txBody>
      </p:sp>
      <p:sp>
        <p:nvSpPr>
          <p:cNvPr id="6" name="Team name"/>
          <p:cNvSpPr txBox="1"/>
          <p:nvPr/>
        </p:nvSpPr>
        <p:spPr>
          <a:xfrm>
            <a:off x="548640" y="3749040"/>
            <a:ext cx="365760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TEAM NAMA</a:t>
            </a:r>
            <a:endParaRPr lang="en-US" sz="1400" dirty="0"/>
          </a:p>
        </p:txBody>
      </p:sp>
      <p:sp>
        <p:nvSpPr>
          <p:cNvPr id="7" name="Members"/>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600" dirty="0">
                <a:solidFill>
                  <a:schemeClr val="bg1"/>
                </a:solidFill>
              </a:rPr>
              <a:t>Mohammad Javad Amin  ·  Nava Biglar  ·  Malihe Ghasemian  ·  Emad Aghajani</a:t>
            </a:r>
            <a:endParaRPr lang="en-US" sz="1600" dirty="0"/>
          </a:p>
        </p:txBody>
      </p:sp>
    </p:spTree>
  </p:cSld>
  <p:clrMapOvr>
    <a:masterClrMapping/>
  </p:clrMapOvr>
</p:sld>
</file>

<file path=ppt/theme/theme1.xml><?xml version="1.0" encoding="utf-8"?>
<a:theme xmlns:a="http://schemas.openxmlformats.org/drawingml/2006/main" name="NAMA Neuron">
  <a:themeElements>
    <a:clrScheme name="NAMA Neuron">
      <a:dk1>
        <a:srgbClr val="16212E"/>
      </a:dk1>
      <a:lt1>
        <a:srgbClr val="FFFFFF"/>
      </a:lt1>
      <a:dk2>
        <a:srgbClr val="2E4057"/>
      </a:dk2>
      <a:lt2>
        <a:srgbClr val="EEF2F6"/>
      </a:lt2>
      <a:accent1>
        <a:srgbClr val="D52B1E"/>
      </a:accent1>
      <a:accent2>
        <a:srgbClr val="2E4057"/>
      </a:accent2>
      <a:accent3>
        <a:srgbClr val="1F8A70"/>
      </a:accent3>
      <a:accent4>
        <a:srgbClr val="6B7A8F"/>
      </a:accent4>
      <a:accent5>
        <a:srgbClr val="F4A259"/>
      </a:accent5>
      <a:accent6>
        <a:srgbClr val="A8B5C6"/>
      </a:accent6>
      <a:hlink>
        <a:srgbClr val="D52B1E"/>
      </a:hlink>
      <a:folHlink>
        <a:srgbClr val="6B7A8F"/>
      </a:folHlink>
    </a:clrScheme>
    <a:fontScheme name="NAMA Neuron">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Neuron Migration</dc:title>
  <dc:subject>PptxGenJS Presentation</dc:subject>
  <dc:creator>Team NAMA</dc:creator>
  <cp:lastModifiedBy>Team NAMA</cp:lastModifiedBy>
  <cp:revision>1</cp:revision>
  <dcterms:created xsi:type="dcterms:W3CDTF">2026-10-17T12:34:59Z</dcterms:created>
  <dcterms:modified xsi:type="dcterms:W3CDTF">2026-10-17T12:34:59Z</dcterms:modified>
</cp:coreProperties>
</file>